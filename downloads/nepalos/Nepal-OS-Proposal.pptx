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62" r:id="rId8"/>
    <p:sldId id="260" r:id="rId6"/>
    <p:sldId id="270" r:id="rId16"/>
    <p:sldId id="279" r:id="rId25"/>
    <p:sldId id="272" r:id="rId18"/>
    <p:sldId id="273" r:id="rId19"/>
    <p:sldId id="269" r:id="rId15"/>
    <p:sldId id="261" r:id="rId7"/>
    <p:sldId id="288" r:id="rId34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5" Type="http://schemas.openxmlformats.org/officeDocument/2006/relationships/slide" Target="slides/slide24.xml"/><Relationship Id="rId34" Type="http://schemas.openxmlformats.org/officeDocument/2006/relationships/slide" Target="slides/slide33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Nepal OS is a proposal and prototype: one free, Nepali-first operating system for every ministry. It is not an official Government of Nepal project.</a:t>
            </a:r>
          </a:p>
          <a:p>
            <a:r>
              <a:rPr lang="en-US" dirty="0"/>
              <a:t>Photo: Mount Everest as seen from a Drukair flight. Author: shrimpo1967; derivative work by Papa Lima Whiskey 2. Licence: CC BY-SA 2.0. Cropped. Source: https://commons.wikimedia.org/wiki/File:Mount_Everest_as_seen_from_Drukair2_PLW_edit.jpg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EU OS is a community-led proof of concept for the EU public sector, based on Fedora Linux with KDE Plasma and bootable containers. It is not an official EU project; it is a tested and packaged setup. Source: https://eu-os.eu</a:t>
            </a:r>
          </a:p>
          <a:p>
            <a:r>
              <a:rPr lang="en-US" dirty="0"/>
              <a:t>Nepal OS takes the same approach on Debian stable: tested, packaged and centrally managed. No new kernel and no fork.</a:t>
            </a:r>
          </a:p>
          <a:p>
            <a:r>
              <a:rPr lang="en-US" dirty="0"/>
              <a:t>Photo (centre): Ama Dablam, Nepal. Author: Vyacheslav Argenberg. Licence: CC BY 4.0. Cropped. Source: https://commons.wikimedia.org/wiki/File:Ama_Dablam,_Nepal.jpg</a:t>
            </a:r>
          </a:p>
          <a:p>
            <a:r>
              <a:rPr lang="en-US" dirty="0"/>
              <a:t>Photo (right): Buddha eyes, Boudhanath Stupa, Kathmandu. Author: Ggia (Wikimedia Commons user). Licence: CC BY-SA 3.0. Cropped. Source: https://commons.wikimedia.org/wiki/File:20110725_Budha_eyes_closeup_Bodhnath_Stupa_Kathmandu_Nepal.jpg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Months 1–2: licensing, repository, first packages. Months 3–4: keyboard and translation testing, pilot on about 20 machines. Months 5–7: automatic install, ministry profiles, 2–3 pilot ministries. Months 8–10: fixes, guides, IT training. Months 11–12: v1.0 and phased rollout.</a:t>
            </a:r>
          </a:p>
          <a:p>
            <a:r>
              <a:rPr lang="en-US" dirty="0"/>
              <a:t>Plan from the Nepal OS proposal.</a:t>
            </a:r>
          </a:p>
          <a:p>
            <a:r>
              <a:rPr lang="en-US" dirty="0"/>
              <a:t>Icons: Lucide (package, keyboard, monitor-down, book-open, flag), ISC licence, https://lucide.dev/license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problems: yearly licence payments for proprietary desktops and office suites; dependence on foreign vendors for updates, data and roadmaps; and legacy documents in the non-Unicode Preeti font, which are hard to search, share and archive.</a:t>
            </a:r>
          </a:p>
          <a:p>
            <a:r>
              <a:rPr lang="en-US" dirty="0"/>
              <a:t>No figures are given on purpose: we have no sourced cost data. Content is from the Nepal OS proposal.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row: the risks. Bottom row: the response to each risk, in the same column.</a:t>
            </a:r>
          </a:p>
          <a:p>
            <a:r>
              <a:rPr lang="en-US" dirty="0"/>
              <a:t>Font licensing: ask for written permission for Kalimati and Preeti, with Noto Sans Devanagari as a free fallback. Nepali translation gaps: a translation drive with universities. Old printers and Windows-only apps: a hardware test list, and web or virtual-machine options.</a:t>
            </a:r>
          </a:p>
          <a:p>
            <a:r>
              <a:rPr lang="en-US" dirty="0"/>
              <a:t>Content is from the Nepal OS proposal.</a:t>
            </a:r>
          </a:p>
          <a:p>
            <a:r>
              <a:rPr lang="en-US" dirty="0"/>
              <a:t>Icons: Lucide (type, languages, printer, file-check, graduation-cap, wrench), ISC licence, https://lucide.dev/license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ships in Nepal OS: LibreOffice with a Nepali interface and spellcheck; fonts (Kalimati as default Nepali, Preeti for legacy files plus a converter, Noto Sans Devanagari); Romanized and Traditional Nepali keyboards with a one-click switch; Nepali defaults: Bikram Sambat calendar, Kathmandu time, Himalaya and temple wallpapers.</a:t>
            </a:r>
          </a:p>
          <a:p>
            <a:r>
              <a:rPr lang="en-US" dirty="0"/>
              <a:t>Content is from the Nepal OS proposal. Font licensing for Kalimati and Preeti is covered on the risks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Automatic install from USB or network boot; the ministry code is the only input. 2. A national package mirror in a government data centre. 3. Staged updates: central IT first, then a pilot ministry, then all of government; nightly security fixes; rollback to a snapshot.</a:t>
            </a:r>
          </a:p>
          <a:p>
            <a:r>
              <a:rPr lang="en-US" dirty="0"/>
              <a:t>Content is from the Nepal OS proposal.</a:t>
            </a:r>
          </a:p>
          <a:p>
            <a:r>
              <a:rPr lang="en-US" dirty="0"/>
              <a:t>Photo: Cholatse and the Chola valley, Nepal. Author: Vyacheslav Argenberg. Licence: CC BY 4.0. Cropped. Source: https://commons.wikimedia.org/wiki/File:Himalayas,_Cholatse,_Nepal.jpg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commitments: no telemetry or phone-home; open source and auditable; updates and data stay on infrastructure in Nepal.</a:t>
            </a:r>
          </a:p>
          <a:p>
            <a:r>
              <a:rPr lang="en-US" dirty="0"/>
              <a:t>Content is from the Nepal OS proposal.</a:t>
            </a:r>
          </a:p>
          <a:p>
            <a:r>
              <a:rPr lang="en-US" dirty="0"/>
              <a:t>Icons: Lucide (eye-off, code, map-pin), ISC licence, https://lucide.dev/license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signed image for every ministry. The ministry is chosen at install with a code such as mof, moha or moest. The code sets the ministry's name in Nepali and English, its logo, login screen, wallpaper, About page, bookmarks and update server.</a:t>
            </a:r>
          </a:p>
          <a:p>
            <a:r>
              <a:rPr lang="en-US" dirty="0"/>
              <a:t>Laptop screen photo: Machapuchare (Fishtail) at sunrise. Author: Bijay Chaurasia. Licence: CC BY-SA 4.0. Cropped. Source: https://commons.wikimedia.org/wiki/File:Machapuchare_Himal-3797.jpg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ask: (1) approve a pilot in one or more ministries; (2) name a central owner for the base image and the ministry profiles.</a:t>
            </a:r>
          </a:p>
          <a:p>
            <a:r>
              <a:rPr lang="en-US" dirty="0"/>
              <a:t>Photo: historic pagoda-style temples, Kathmandu Durbar Square. Author: Bijay Chaurasia. Licence: CC BY-SA 4.0. Cropped. Source: https://commons.wikimedia.org/wiki/File:Historic_Pagoda_Style_Architecture_in_Kathmandu_Durbar_Square-IMG_4069.jpg</a:t>
            </a:r>
          </a:p>
          <a:p>
            <a:r>
              <a:rPr lang="en-US" dirty="0"/>
              <a:t>Credits for the whole deck: Photos from Wikimedia Commons - Mount Everest from Drukair (shrimpo1967; derivative by Papa Lima Whiskey 2; CC BY-SA 2.0); Ama Dablam and Cholatse (Vyacheslav Argenberg; CC BY 4.0); Boudhanath Stupa (Ggia; CC BY-SA 3.0); Machapuchare and Kathmandu Durbar Square (Bijay Chaurasia; CC BY-SA 4.0). Source URLs are in the notes of each slide. All photos cropped. Icons: Lucide, ISC licence, https://lucide.dev/license. EU OS facts: https://eu-os.eu. Other content: the Nepal OS proposal.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G1a" Type="http://schemas.openxmlformats.org/officeDocument/2006/relationships/image" Target="../media/g1_everest.jp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G1a" Type="http://schemas.openxmlformats.org/officeDocument/2006/relationships/image" Target="../media/g1_amadablam.jpg"/><Relationship Id="rIdG1b" Type="http://schemas.openxmlformats.org/officeDocument/2006/relationships/image" Target="../media/g1_boudha.jp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G3i0" Type="http://schemas.openxmlformats.org/officeDocument/2006/relationships/image" Target="../media/g3_icon_package_FFFFFF.png"/><Relationship Id="rIdG3i1" Type="http://schemas.openxmlformats.org/officeDocument/2006/relationships/image" Target="../media/g3_icon_keyboard_FFFFFF.png"/><Relationship Id="rIdG3i2" Type="http://schemas.openxmlformats.org/officeDocument/2006/relationships/image" Target="../media/g3_icon_monitor-down_FFFFFF.png"/><Relationship Id="rIdG3i3" Type="http://schemas.openxmlformats.org/officeDocument/2006/relationships/image" Target="../media/g3_icon_book-open_FFFFFF.png"/><Relationship Id="rIdG3i4" Type="http://schemas.openxmlformats.org/officeDocument/2006/relationships/image" Target="../media/g3_icon_flag_FFFFFF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G3i0" Type="http://schemas.openxmlformats.org/officeDocument/2006/relationships/image" Target="../media/g3_icon_type_DC143C.png"/><Relationship Id="rIdG3i1" Type="http://schemas.openxmlformats.org/officeDocument/2006/relationships/image" Target="../media/g3_icon_languages_DC143C.png"/><Relationship Id="rIdG3i2" Type="http://schemas.openxmlformats.org/officeDocument/2006/relationships/image" Target="../media/g3_icon_printer_DC143C.png"/><Relationship Id="rIdG3i3" Type="http://schemas.openxmlformats.org/officeDocument/2006/relationships/image" Target="../media/g3_icon_file-check_0A1A3F.png"/><Relationship Id="rIdG3i4" Type="http://schemas.openxmlformats.org/officeDocument/2006/relationships/image" Target="../media/g3_icon_graduation-cap_0A1A3F.png"/><Relationship Id="rIdG3i5" Type="http://schemas.openxmlformats.org/officeDocument/2006/relationships/image" Target="../media/g3_icon_wrench_0A1A3F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G2a" Type="http://schemas.openxmlformats.org/officeDocument/2006/relationships/image" Target="../media/g2_cholatse.jp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G3i0" Type="http://schemas.openxmlformats.org/officeDocument/2006/relationships/image" Target="../media/g3_icon_eye-off_FFFFFF.png"/><Relationship Id="rIdG3i1" Type="http://schemas.openxmlformats.org/officeDocument/2006/relationships/image" Target="../media/g3_icon_code_FFFFFF.png"/><Relationship Id="rIdG3i2" Type="http://schemas.openxmlformats.org/officeDocument/2006/relationships/image" Target="../media/g3_icon_map-pin_FFFFFF.png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G2a" Type="http://schemas.openxmlformats.org/officeDocument/2006/relationships/image" Target="../media/g2_machapuchare.jpg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G4a" Type="http://schemas.openxmlformats.org/officeDocument/2006/relationships/image" Target="../media/g4_kdsquare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305" y="0"/>
            <a:ext cx="6096305" cy="5811926"/>
          </a:xfrm>
          <a:prstGeom prst="rect">
            <a:avLst/>
          </a:prstGeom>
          <a:blipFill rotWithShape="1">
            <a:blip r:embed="rIdG1a"/>
            <a:stretch>
              <a:fillRect/>
            </a:stretch>
          </a:blipFill>
          <a:ln/>
        </p:spPr>
      </p:sp>
      <p:sp>
        <p:nvSpPr>
          <p:cNvPr id="3" name="Text 1"/>
          <p:cNvSpPr/>
          <p:nvPr/>
        </p:nvSpPr>
        <p:spPr>
          <a:xfrm>
            <a:off x="957377" y="1790395"/>
            <a:ext cx="4196182" cy="10158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A1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Nepal OS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57377" y="2862072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40404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One free, Nepali-first operating system for all of government</a:t>
            </a:r>
          </a:p>
        </p:txBody>
      </p:sp>
      <p:sp>
        <p:nvSpPr>
          <p:cNvPr id="5" name="Text 3"/>
          <p:cNvSpPr/>
          <p:nvPr/>
        </p:nvSpPr>
        <p:spPr>
          <a:xfrm>
            <a:off x="957377" y="370332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ne-NP" sz="1400" dirty="0">
                <a:solidFill>
                  <a:srgbClr val="595959"/>
                </a:solidFill>
                <a:latin typeface="Noto Sans Devanagari" pitchFamily="34" charset="0"/>
                <a:ea typeface="Noto Sans Devanagari" pitchFamily="34" charset="-122"/>
                <a:cs typeface="Noto Sans Devanagari" pitchFamily="34" charset="-120"/>
              </a:rPr>
              <a:t>नेपाल ओएस: सरकारका लागि स्वतन्त्र, नेपाली-प्रथम अपरेटिङ सिस्टम</a:t>
            </a:r>
          </a:p>
        </p:txBody>
      </p:sp>
      <p:sp>
        <p:nvSpPr>
          <p:cNvPr id="6" name="Text 4"/>
          <p:cNvSpPr/>
          <p:nvPr/>
        </p:nvSpPr>
        <p:spPr>
          <a:xfrm>
            <a:off x="957377" y="4936846"/>
            <a:ext cx="365760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Proposal · Prototype · 2026</a:t>
            </a:r>
          </a:p>
        </p:txBody>
      </p:sp>
      <p:sp>
        <p:nvSpPr>
          <p:cNvPr id="7" name="Shape 5"/>
          <p:cNvSpPr/>
          <p:nvPr/>
        </p:nvSpPr>
        <p:spPr>
          <a:xfrm>
            <a:off x="6096305" y="5243170"/>
            <a:ext cx="4813402" cy="1138428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8" name="Text 6"/>
          <p:cNvSpPr/>
          <p:nvPr/>
        </p:nvSpPr>
        <p:spPr>
          <a:xfrm>
            <a:off x="6653174" y="5399532"/>
            <a:ext cx="3931920" cy="825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on free software. Run in Nepal, in Nepali, for every ministry.</a:t>
            </a:r>
          </a:p>
        </p:txBody>
      </p:sp>
      <p:sp>
        <p:nvSpPr>
          <p:cNvPr id="11" name="Shape 9"/>
          <p:cNvSpPr/>
          <p:nvPr/>
        </p:nvSpPr>
        <p:spPr>
          <a:xfrm>
            <a:off x="353873" y="305410"/>
            <a:ext cx="362102" cy="311810"/>
          </a:xfrm>
          <a:prstGeom prst="triangle">
            <a:avLst/>
          </a:prstGeom>
          <a:solidFill>
            <a:srgbClr val="DC143C"/>
          </a:solidFill>
          <a:ln/>
        </p:spPr>
      </p:sp>
      <p:sp>
        <p:nvSpPr>
          <p:cNvPr id="12" name="Shape 10"/>
          <p:cNvSpPr/>
          <p:nvPr/>
        </p:nvSpPr>
        <p:spPr>
          <a:xfrm>
            <a:off x="437083" y="401422"/>
            <a:ext cx="193853" cy="167335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495605"/>
            <a:ext cx="153619" cy="132588"/>
          </a:xfrm>
          <a:prstGeom prst="triangle">
            <a:avLst/>
          </a:prstGeom>
          <a:solidFill>
            <a:srgbClr val="0A1A3F"/>
          </a:solidFill>
          <a:ln w="2794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12191695" cy="2197303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Text 1"/>
          <p:cNvSpPr/>
          <p:nvPr/>
        </p:nvSpPr>
        <p:spPr>
          <a:xfrm>
            <a:off x="652882" y="1234440"/>
            <a:ext cx="428030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1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model: EU OS</a:t>
            </a:r>
          </a:p>
        </p:txBody>
      </p:sp>
      <p:sp>
        <p:nvSpPr>
          <p:cNvPr id="4" name="Text 2"/>
          <p:cNvSpPr/>
          <p:nvPr/>
        </p:nvSpPr>
        <p:spPr>
          <a:xfrm>
            <a:off x="652882" y="2240280"/>
            <a:ext cx="428030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Europe's public sector already has a working example. Nepal OS follows the same approach, on a base built for long, stable use.</a:t>
            </a:r>
          </a:p>
        </p:txBody>
      </p:sp>
      <p:sp>
        <p:nvSpPr>
          <p:cNvPr id="5" name="Shape 3"/>
          <p:cNvSpPr/>
          <p:nvPr/>
        </p:nvSpPr>
        <p:spPr>
          <a:xfrm>
            <a:off x="5585155" y="0"/>
            <a:ext cx="2937053" cy="4686300"/>
          </a:xfrm>
          <a:prstGeom prst="rect">
            <a:avLst/>
          </a:prstGeom>
          <a:blipFill rotWithShape="1">
            <a:blip r:embed="rIdG1a"/>
            <a:stretch>
              <a:fillRect/>
            </a:stretch>
          </a:blipFill>
          <a:ln/>
        </p:spPr>
      </p:sp>
      <p:sp>
        <p:nvSpPr>
          <p:cNvPr id="6" name="Shape 4"/>
          <p:cNvSpPr/>
          <p:nvPr/>
        </p:nvSpPr>
        <p:spPr>
          <a:xfrm>
            <a:off x="8874252" y="2171700"/>
            <a:ext cx="2937053" cy="4686300"/>
          </a:xfrm>
          <a:prstGeom prst="rect">
            <a:avLst/>
          </a:prstGeom>
          <a:blipFill rotWithShape="1">
            <a:blip r:embed="rIdG1b"/>
            <a:stretch>
              <a:fillRect/>
            </a:stretch>
          </a:blipFill>
          <a:ln/>
        </p:spPr>
      </p:sp>
      <p:sp>
        <p:nvSpPr>
          <p:cNvPr id="7" name="Text 5"/>
          <p:cNvSpPr/>
          <p:nvPr/>
        </p:nvSpPr>
        <p:spPr>
          <a:xfrm>
            <a:off x="8874252" y="801014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copy</a:t>
            </a:r>
          </a:p>
        </p:txBody>
      </p:sp>
      <p:sp>
        <p:nvSpPr>
          <p:cNvPr id="8" name="Text 6"/>
          <p:cNvSpPr/>
          <p:nvPr/>
        </p:nvSpPr>
        <p:spPr>
          <a:xfrm>
            <a:off x="8874252" y="1115568"/>
            <a:ext cx="2937053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method, not the code: test a free desktop, package it and manage it centrally.</a:t>
            </a:r>
          </a:p>
        </p:txBody>
      </p:sp>
      <p:sp>
        <p:nvSpPr>
          <p:cNvPr id="9" name="Text 7"/>
          <p:cNvSpPr/>
          <p:nvPr/>
        </p:nvSpPr>
        <p:spPr>
          <a:xfrm>
            <a:off x="652882" y="4956048"/>
            <a:ext cx="301752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01. EU OS</a:t>
            </a:r>
          </a:p>
        </p:txBody>
      </p:sp>
      <p:sp>
        <p:nvSpPr>
          <p:cNvPr id="10" name="Text 8"/>
          <p:cNvSpPr/>
          <p:nvPr/>
        </p:nvSpPr>
        <p:spPr>
          <a:xfrm>
            <a:off x="4350715" y="4956048"/>
            <a:ext cx="301752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02. Nepal OS</a:t>
            </a:r>
          </a:p>
        </p:txBody>
      </p:sp>
      <p:sp>
        <p:nvSpPr>
          <p:cNvPr id="11" name="Text 9"/>
          <p:cNvSpPr/>
          <p:nvPr/>
        </p:nvSpPr>
        <p:spPr>
          <a:xfrm>
            <a:off x="652882" y="5321808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Community-led proof of concept for the EU public sector.</a:t>
            </a:r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Fedora Linux, KDE Plasma, bootable containers.</a:t>
            </a:r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Not an official EU project.</a:t>
            </a:r>
          </a:p>
        </p:txBody>
      </p:sp>
      <p:sp>
        <p:nvSpPr>
          <p:cNvPr id="12" name="Text 10"/>
          <p:cNvSpPr/>
          <p:nvPr/>
        </p:nvSpPr>
        <p:spPr>
          <a:xfrm>
            <a:off x="4347972" y="5321808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same approach, on Debian stable.</a:t>
            </a:r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Tested, packaged and centrally managed.</a:t>
            </a:r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 new kernel, no fork.</a:t>
            </a:r>
          </a:p>
        </p:txBody>
      </p:sp>
      <p:sp>
        <p:nvSpPr>
          <p:cNvPr id="13" name="Shape 11"/>
          <p:cNvSpPr/>
          <p:nvPr/>
        </p:nvSpPr>
        <p:spPr>
          <a:xfrm>
            <a:off x="353873" y="305410"/>
            <a:ext cx="362102" cy="311810"/>
          </a:xfrm>
          <a:prstGeom prst="triangle">
            <a:avLst/>
          </a:prstGeom>
          <a:solidFill>
            <a:srgbClr val="DC143C"/>
          </a:solidFill>
          <a:ln/>
        </p:spPr>
      </p:sp>
      <p:sp>
        <p:nvSpPr>
          <p:cNvPr id="14" name="Shape 12"/>
          <p:cNvSpPr/>
          <p:nvPr/>
        </p:nvSpPr>
        <p:spPr>
          <a:xfrm>
            <a:off x="437083" y="401422"/>
            <a:ext cx="193853" cy="167335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495605"/>
            <a:ext cx="153619" cy="132588"/>
          </a:xfrm>
          <a:prstGeom prst="triangle">
            <a:avLst/>
          </a:prstGeom>
          <a:solidFill>
            <a:srgbClr val="0A1A3F"/>
          </a:solidFill>
          <a:ln w="2794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51760" y="796442"/>
            <a:ext cx="6888175" cy="5230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Twelve months to version 1.0</a:t>
            </a:r>
          </a:p>
        </p:txBody>
      </p:sp>
      <p:sp>
        <p:nvSpPr>
          <p:cNvPr id="3" name="Text 1"/>
          <p:cNvSpPr/>
          <p:nvPr/>
        </p:nvSpPr>
        <p:spPr>
          <a:xfrm>
            <a:off x="3366821" y="1566367"/>
            <a:ext cx="5458968" cy="5239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7F7F7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Five steps, from the first packages to a phased rollout.</a:t>
            </a:r>
          </a:p>
        </p:txBody>
      </p:sp>
      <p:sp>
        <p:nvSpPr>
          <p:cNvPr id="4" name="Shape 2"/>
          <p:cNvSpPr/>
          <p:nvPr/>
        </p:nvSpPr>
        <p:spPr>
          <a:xfrm rot="5400000">
            <a:off x="913943" y="3039008"/>
            <a:ext cx="1381658" cy="1237183"/>
          </a:xfrm>
          <a:prstGeom prst="hexagon">
            <a:avLst/>
          </a:prstGeom>
          <a:solidFill>
            <a:srgbClr val="FFFFFF"/>
          </a:solidFill>
          <a:ln/>
          <a:effectLst>
            <a:outerShdw sx="100000" sy="100000" kx="0" ky="0" algn="bl" rotWithShape="0" blurRad="3175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 rot="5400000">
            <a:off x="1025500" y="3138678"/>
            <a:ext cx="1158545" cy="1037844"/>
          </a:xfrm>
          <a:prstGeom prst="hexagon">
            <a:avLst/>
          </a:prstGeom>
          <a:solidFill>
            <a:srgbClr val="DC143C"/>
          </a:solidFill>
          <a:ln/>
        </p:spPr>
      </p:sp>
      <p:sp>
        <p:nvSpPr>
          <p:cNvPr id="10" name="Text 8"/>
          <p:cNvSpPr/>
          <p:nvPr/>
        </p:nvSpPr>
        <p:spPr>
          <a:xfrm>
            <a:off x="732434" y="4876495"/>
            <a:ext cx="174559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Months 1–2</a:t>
            </a:r>
          </a:p>
        </p:txBody>
      </p:sp>
      <p:sp>
        <p:nvSpPr>
          <p:cNvPr id="11" name="Text 9"/>
          <p:cNvSpPr/>
          <p:nvPr/>
        </p:nvSpPr>
        <p:spPr>
          <a:xfrm>
            <a:off x="569671" y="5278831"/>
            <a:ext cx="207020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Licensing, repository and first packages.</a:t>
            </a:r>
          </a:p>
        </p:txBody>
      </p:sp>
      <p:sp>
        <p:nvSpPr>
          <p:cNvPr id="12" name="Shape 10"/>
          <p:cNvSpPr/>
          <p:nvPr/>
        </p:nvSpPr>
        <p:spPr>
          <a:xfrm>
            <a:off x="2475281" y="3683203"/>
            <a:ext cx="502006" cy="0"/>
          </a:xfrm>
          <a:prstGeom prst="line">
            <a:avLst/>
          </a:prstGeom>
          <a:noFill/>
          <a:ln w="9525">
            <a:solidFill>
              <a:srgbClr val="AEABAB"/>
            </a:solidFill>
            <a:prstDash val="dash"/>
            <a:tailEnd type="stealth"/>
          </a:ln>
        </p:spPr>
      </p:sp>
      <p:sp>
        <p:nvSpPr>
          <p:cNvPr id="13" name="Shape 11"/>
          <p:cNvSpPr/>
          <p:nvPr/>
        </p:nvSpPr>
        <p:spPr>
          <a:xfrm rot="5400000">
            <a:off x="3159709" y="3039008"/>
            <a:ext cx="1381658" cy="1237183"/>
          </a:xfrm>
          <a:prstGeom prst="hexagon">
            <a:avLst/>
          </a:prstGeom>
          <a:solidFill>
            <a:srgbClr val="FFFFFF"/>
          </a:solidFill>
          <a:ln/>
          <a:effectLst>
            <a:outerShdw sx="100000" sy="100000" kx="0" ky="0" algn="bl" rotWithShape="0" blurRad="3175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 rot="5400000">
            <a:off x="3271266" y="3138678"/>
            <a:ext cx="1158545" cy="1037844"/>
          </a:xfrm>
          <a:prstGeom prst="hexagon">
            <a:avLst/>
          </a:prstGeom>
          <a:solidFill>
            <a:srgbClr val="DC143C"/>
          </a:solidFill>
          <a:ln/>
        </p:spPr>
      </p:sp>
      <p:sp>
        <p:nvSpPr>
          <p:cNvPr id="18" name="Text 16"/>
          <p:cNvSpPr/>
          <p:nvPr/>
        </p:nvSpPr>
        <p:spPr>
          <a:xfrm>
            <a:off x="2977286" y="4876495"/>
            <a:ext cx="174559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Months 3–4</a:t>
            </a:r>
          </a:p>
        </p:txBody>
      </p:sp>
      <p:sp>
        <p:nvSpPr>
          <p:cNvPr id="19" name="Text 17"/>
          <p:cNvSpPr/>
          <p:nvPr/>
        </p:nvSpPr>
        <p:spPr>
          <a:xfrm>
            <a:off x="2815438" y="5278831"/>
            <a:ext cx="207020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Keyboard and translation testing; pilot on about 20 machines.</a:t>
            </a:r>
          </a:p>
        </p:txBody>
      </p:sp>
      <p:sp>
        <p:nvSpPr>
          <p:cNvPr id="20" name="Shape 18"/>
          <p:cNvSpPr/>
          <p:nvPr/>
        </p:nvSpPr>
        <p:spPr>
          <a:xfrm>
            <a:off x="4721047" y="3683203"/>
            <a:ext cx="502006" cy="0"/>
          </a:xfrm>
          <a:prstGeom prst="line">
            <a:avLst/>
          </a:prstGeom>
          <a:noFill/>
          <a:ln w="9525">
            <a:solidFill>
              <a:srgbClr val="AEABAB"/>
            </a:solidFill>
            <a:prstDash val="dash"/>
            <a:tailEnd type="stealth"/>
          </a:ln>
        </p:spPr>
      </p:sp>
      <p:sp>
        <p:nvSpPr>
          <p:cNvPr id="21" name="Shape 19"/>
          <p:cNvSpPr/>
          <p:nvPr/>
        </p:nvSpPr>
        <p:spPr>
          <a:xfrm rot="5400000">
            <a:off x="5405476" y="3039008"/>
            <a:ext cx="1381658" cy="1237183"/>
          </a:xfrm>
          <a:prstGeom prst="hexagon">
            <a:avLst/>
          </a:prstGeom>
          <a:solidFill>
            <a:srgbClr val="FFFFFF"/>
          </a:solidFill>
          <a:ln/>
          <a:effectLst>
            <a:outerShdw sx="100000" sy="100000" kx="0" ky="0" algn="bl" rotWithShape="0" blurRad="3175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 rot="5400000">
            <a:off x="5517032" y="3138678"/>
            <a:ext cx="1158545" cy="1037844"/>
          </a:xfrm>
          <a:prstGeom prst="hexagon">
            <a:avLst/>
          </a:prstGeom>
          <a:solidFill>
            <a:srgbClr val="DC143C"/>
          </a:solidFill>
          <a:ln/>
        </p:spPr>
      </p:sp>
      <p:sp>
        <p:nvSpPr>
          <p:cNvPr id="29" name="Text 27"/>
          <p:cNvSpPr/>
          <p:nvPr/>
        </p:nvSpPr>
        <p:spPr>
          <a:xfrm>
            <a:off x="5223053" y="4876495"/>
            <a:ext cx="174559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Months 5–7</a:t>
            </a:r>
          </a:p>
        </p:txBody>
      </p:sp>
      <p:sp>
        <p:nvSpPr>
          <p:cNvPr id="30" name="Text 28"/>
          <p:cNvSpPr/>
          <p:nvPr/>
        </p:nvSpPr>
        <p:spPr>
          <a:xfrm>
            <a:off x="5061204" y="5278831"/>
            <a:ext cx="207020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Automatic install, ministry profiles, 2–3 pilot ministries.</a:t>
            </a:r>
          </a:p>
        </p:txBody>
      </p:sp>
      <p:sp>
        <p:nvSpPr>
          <p:cNvPr id="31" name="Shape 29"/>
          <p:cNvSpPr/>
          <p:nvPr/>
        </p:nvSpPr>
        <p:spPr>
          <a:xfrm>
            <a:off x="6966814" y="3683203"/>
            <a:ext cx="502006" cy="0"/>
          </a:xfrm>
          <a:prstGeom prst="line">
            <a:avLst/>
          </a:prstGeom>
          <a:noFill/>
          <a:ln w="9525">
            <a:solidFill>
              <a:srgbClr val="AEABAB"/>
            </a:solidFill>
            <a:prstDash val="dash"/>
            <a:tailEnd type="stealth"/>
          </a:ln>
        </p:spPr>
      </p:sp>
      <p:sp>
        <p:nvSpPr>
          <p:cNvPr id="32" name="Shape 30"/>
          <p:cNvSpPr/>
          <p:nvPr/>
        </p:nvSpPr>
        <p:spPr>
          <a:xfrm rot="5400000">
            <a:off x="7650328" y="3039008"/>
            <a:ext cx="1381658" cy="1237183"/>
          </a:xfrm>
          <a:prstGeom prst="hexagon">
            <a:avLst/>
          </a:prstGeom>
          <a:solidFill>
            <a:srgbClr val="FFFFFF"/>
          </a:solidFill>
          <a:ln/>
          <a:effectLst>
            <a:outerShdw sx="100000" sy="100000" kx="0" ky="0" algn="bl" rotWithShape="0" blurRad="317500" dist="38100" dir="54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 rot="5400000">
            <a:off x="7761884" y="3138678"/>
            <a:ext cx="1158545" cy="1037844"/>
          </a:xfrm>
          <a:prstGeom prst="hexagon">
            <a:avLst/>
          </a:prstGeom>
          <a:solidFill>
            <a:srgbClr val="DC143C"/>
          </a:solidFill>
          <a:ln/>
        </p:spPr>
      </p:sp>
      <p:sp>
        <p:nvSpPr>
          <p:cNvPr id="38" name="Text 36"/>
          <p:cNvSpPr/>
          <p:nvPr/>
        </p:nvSpPr>
        <p:spPr>
          <a:xfrm>
            <a:off x="7468819" y="4876495"/>
            <a:ext cx="174559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Months 8–10</a:t>
            </a:r>
          </a:p>
        </p:txBody>
      </p:sp>
      <p:sp>
        <p:nvSpPr>
          <p:cNvPr id="39" name="Text 37"/>
          <p:cNvSpPr/>
          <p:nvPr/>
        </p:nvSpPr>
        <p:spPr>
          <a:xfrm>
            <a:off x="7306970" y="5278831"/>
            <a:ext cx="207020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Fixes, guides and IT training.</a:t>
            </a:r>
          </a:p>
        </p:txBody>
      </p:sp>
      <p:sp>
        <p:nvSpPr>
          <p:cNvPr id="40" name="Shape 38"/>
          <p:cNvSpPr/>
          <p:nvPr/>
        </p:nvSpPr>
        <p:spPr>
          <a:xfrm>
            <a:off x="9211666" y="3683203"/>
            <a:ext cx="502006" cy="0"/>
          </a:xfrm>
          <a:prstGeom prst="line">
            <a:avLst/>
          </a:prstGeom>
          <a:noFill/>
          <a:ln w="9525">
            <a:solidFill>
              <a:srgbClr val="AEABAB"/>
            </a:solidFill>
            <a:prstDash val="dash"/>
            <a:tailEnd type="stealth"/>
          </a:ln>
        </p:spPr>
      </p:sp>
      <p:sp>
        <p:nvSpPr>
          <p:cNvPr id="41" name="Shape 39"/>
          <p:cNvSpPr/>
          <p:nvPr/>
        </p:nvSpPr>
        <p:spPr>
          <a:xfrm rot="5400000">
            <a:off x="9896094" y="3039008"/>
            <a:ext cx="1381658" cy="1237183"/>
          </a:xfrm>
          <a:prstGeom prst="hexagon">
            <a:avLst/>
          </a:prstGeom>
          <a:solidFill>
            <a:srgbClr val="FFFFFF"/>
          </a:solidFill>
          <a:ln/>
          <a:effectLst>
            <a:outerShdw sx="100000" sy="100000" kx="0" ky="0" algn="bl" rotWithShape="0" blurRad="317500" dist="38100" dir="54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 rot="5400000">
            <a:off x="10007651" y="3138678"/>
            <a:ext cx="1158545" cy="1037844"/>
          </a:xfrm>
          <a:prstGeom prst="hexagon">
            <a:avLst/>
          </a:prstGeom>
          <a:solidFill>
            <a:srgbClr val="0A1A3F"/>
          </a:solidFill>
          <a:ln/>
        </p:spPr>
      </p:sp>
      <p:sp>
        <p:nvSpPr>
          <p:cNvPr id="54" name="Text 52"/>
          <p:cNvSpPr/>
          <p:nvPr/>
        </p:nvSpPr>
        <p:spPr>
          <a:xfrm>
            <a:off x="9713671" y="4876495"/>
            <a:ext cx="174559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Months 11–12</a:t>
            </a:r>
          </a:p>
        </p:txBody>
      </p:sp>
      <p:sp>
        <p:nvSpPr>
          <p:cNvPr id="55" name="Text 53"/>
          <p:cNvSpPr/>
          <p:nvPr/>
        </p:nvSpPr>
        <p:spPr>
          <a:xfrm>
            <a:off x="9551822" y="5278831"/>
            <a:ext cx="207020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Version 1.0 and phased rollout.</a:t>
            </a:r>
          </a:p>
        </p:txBody>
      </p:sp>
      <p:sp>
        <p:nvSpPr>
          <p:cNvPr id="56" name="Shape 54"/>
          <p:cNvSpPr/>
          <p:nvPr/>
        </p:nvSpPr>
        <p:spPr>
          <a:xfrm>
            <a:off x="11325758" y="299009"/>
            <a:ext cx="362102" cy="311810"/>
          </a:xfrm>
          <a:prstGeom prst="triangle">
            <a:avLst/>
          </a:prstGeom>
          <a:solidFill>
            <a:srgbClr val="DC143C"/>
          </a:solidFill>
          <a:ln/>
        </p:spPr>
      </p:sp>
      <p:sp>
        <p:nvSpPr>
          <p:cNvPr id="57" name="Shape 55"/>
          <p:cNvSpPr/>
          <p:nvPr/>
        </p:nvSpPr>
        <p:spPr>
          <a:xfrm>
            <a:off x="11408969" y="395021"/>
            <a:ext cx="193853" cy="167335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58" name="Shape 56"/>
          <p:cNvSpPr/>
          <p:nvPr/>
        </p:nvSpPr>
        <p:spPr>
          <a:xfrm>
            <a:off x="11429086" y="489204"/>
            <a:ext cx="153619" cy="132588"/>
          </a:xfrm>
          <a:prstGeom prst="triangle">
            <a:avLst/>
          </a:prstGeom>
          <a:solidFill>
            <a:srgbClr val="0A1A3F"/>
          </a:solidFill>
          <a:ln w="27940">
            <a:solidFill>
              <a:srgbClr val="FFFFFF"/>
            </a:solidFill>
            <a:prstDash val="solid"/>
          </a:ln>
        </p:spPr>
      </p:sp>
      <p:pic>
        <p:nvPicPr>
          <p:cNvPr id="59" name="Icon package" descr="package icon (Lucide, ISC)"/>
          <p:cNvPicPr>
            <a:picLocks noChangeAspect="1"/>
          </p:cNvPicPr>
          <p:nvPr/>
        </p:nvPicPr>
        <p:blipFill>
          <a:blip r:embed="rIdG3i0"/>
          <a:stretch>
            <a:fillRect/>
          </a:stretch>
        </p:blipFill>
        <p:spPr>
          <a:xfrm>
            <a:off x="1367028" y="3419856"/>
            <a:ext cx="475488" cy="475488"/>
          </a:xfrm>
          <a:prstGeom prst="rect">
            <a:avLst/>
          </a:prstGeom>
        </p:spPr>
      </p:pic>
      <p:pic>
        <p:nvPicPr>
          <p:cNvPr id="60" name="Icon keyboard" descr="keyboard icon (Lucide, ISC)"/>
          <p:cNvPicPr>
            <a:picLocks noChangeAspect="1"/>
          </p:cNvPicPr>
          <p:nvPr/>
        </p:nvPicPr>
        <p:blipFill>
          <a:blip r:embed="rIdG3i1"/>
          <a:stretch>
            <a:fillRect/>
          </a:stretch>
        </p:blipFill>
        <p:spPr>
          <a:xfrm>
            <a:off x="3611880" y="3419856"/>
            <a:ext cx="475488" cy="475488"/>
          </a:xfrm>
          <a:prstGeom prst="rect">
            <a:avLst/>
          </a:prstGeom>
        </p:spPr>
      </p:pic>
      <p:pic>
        <p:nvPicPr>
          <p:cNvPr id="61" name="Icon monitor-down" descr="monitor-down icon (Lucide, ISC)"/>
          <p:cNvPicPr>
            <a:picLocks noChangeAspect="1"/>
          </p:cNvPicPr>
          <p:nvPr/>
        </p:nvPicPr>
        <p:blipFill>
          <a:blip r:embed="rIdG3i2"/>
          <a:stretch>
            <a:fillRect/>
          </a:stretch>
        </p:blipFill>
        <p:spPr>
          <a:xfrm>
            <a:off x="5857646" y="3419856"/>
            <a:ext cx="475488" cy="475488"/>
          </a:xfrm>
          <a:prstGeom prst="rect">
            <a:avLst/>
          </a:prstGeom>
        </p:spPr>
      </p:pic>
      <p:pic>
        <p:nvPicPr>
          <p:cNvPr id="62" name="Icon book-open" descr="book-open icon (Lucide, ISC)"/>
          <p:cNvPicPr>
            <a:picLocks noChangeAspect="1"/>
          </p:cNvPicPr>
          <p:nvPr/>
        </p:nvPicPr>
        <p:blipFill>
          <a:blip r:embed="rIdG3i3"/>
          <a:stretch>
            <a:fillRect/>
          </a:stretch>
        </p:blipFill>
        <p:spPr>
          <a:xfrm>
            <a:off x="8102498" y="3419856"/>
            <a:ext cx="475488" cy="475488"/>
          </a:xfrm>
          <a:prstGeom prst="rect">
            <a:avLst/>
          </a:prstGeom>
        </p:spPr>
      </p:pic>
      <p:pic>
        <p:nvPicPr>
          <p:cNvPr id="63" name="Icon flag" descr="flag icon (Lucide, ISC)"/>
          <p:cNvPicPr>
            <a:picLocks noChangeAspect="1"/>
          </p:cNvPicPr>
          <p:nvPr/>
        </p:nvPicPr>
        <p:blipFill>
          <a:blip r:embed="rIdG3i4"/>
          <a:stretch>
            <a:fillRect/>
          </a:stretch>
        </p:blipFill>
        <p:spPr>
          <a:xfrm>
            <a:off x="10349179" y="3419856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2531" y="1206094"/>
            <a:ext cx="11009376" cy="2743200"/>
          </a:xfrm>
          <a:prstGeom prst="rect">
            <a:avLst/>
          </a:prstGeom>
          <a:solidFill>
            <a:srgbClr val="C3C3C3"/>
          </a:solidFill>
          <a:ln/>
        </p:spPr>
      </p:sp>
      <p:sp>
        <p:nvSpPr>
          <p:cNvPr id="3" name="Shape 1"/>
          <p:cNvSpPr/>
          <p:nvPr/>
        </p:nvSpPr>
        <p:spPr>
          <a:xfrm>
            <a:off x="591617" y="1216152"/>
            <a:ext cx="11009376" cy="2743200"/>
          </a:xfrm>
          <a:prstGeom prst="rect">
            <a:avLst/>
          </a:prstGeom>
          <a:solidFill>
            <a:srgbClr val="0A1A3F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0" y="1600200"/>
            <a:ext cx="67052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problem today</a:t>
            </a:r>
          </a:p>
          <a:p>
            <a:pPr algn="ctr" indent="0" marL="0">
              <a:spcBef>
                <a:spcPts val="1400"/>
              </a:spcBef>
              <a:buNone/>
            </a:pPr>
            <a:r>
              <a:rPr lang="en-US" sz="1600" b="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Three issues that every ministry shares</a:t>
            </a:r>
          </a:p>
        </p:txBody>
      </p:sp>
      <p:sp>
        <p:nvSpPr>
          <p:cNvPr id="5" name="Shape 3"/>
          <p:cNvSpPr/>
          <p:nvPr/>
        </p:nvSpPr>
        <p:spPr>
          <a:xfrm>
            <a:off x="1013155" y="3090672"/>
            <a:ext cx="3183941" cy="1691640"/>
          </a:xfrm>
          <a:prstGeom prst="rect">
            <a:avLst/>
          </a:prstGeom>
          <a:solidFill>
            <a:srgbClr val="DC143C"/>
          </a:solidFill>
          <a:ln/>
          <a:effectLst>
            <a:outerShdw sx="100000" sy="100000" kx="0" ky="0" algn="bl" rotWithShape="0" blurRad="317500" dist="38100" dir="5400000">
              <a:srgbClr val="DC143C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60627" y="3328416"/>
            <a:ext cx="201168" cy="150876"/>
          </a:xfrm>
          <a:prstGeom prst="pie">
            <a:avLst>
              <a:gd name="adj1" fmla="val 10800000"/>
              <a:gd name="adj2" fmla="val 21600000"/>
            </a:avLst>
          </a:prstGeom>
          <a:ln w="9779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90218" y="3479292"/>
            <a:ext cx="341986" cy="352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380744" y="3519526"/>
            <a:ext cx="160934" cy="130759"/>
          </a:xfrm>
          <a:prstGeom prst="ellipse">
            <a:avLst/>
          </a:prstGeom>
          <a:ln w="9779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90218" y="3620110"/>
            <a:ext cx="341986" cy="231343"/>
          </a:xfrm>
          <a:prstGeom prst="pie">
            <a:avLst>
              <a:gd name="adj1" fmla="val 10800000"/>
              <a:gd name="adj2" fmla="val 21600000"/>
            </a:avLst>
          </a:prstGeom>
          <a:ln w="9779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51330" y="3239719"/>
            <a:ext cx="214884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Licence costs</a:t>
            </a:r>
          </a:p>
        </p:txBody>
      </p:sp>
      <p:sp>
        <p:nvSpPr>
          <p:cNvPr id="11" name="Text 9"/>
          <p:cNvSpPr/>
          <p:nvPr/>
        </p:nvSpPr>
        <p:spPr>
          <a:xfrm>
            <a:off x="1951330" y="3556102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Paying every year for proprietary desktops and office suites.</a:t>
            </a:r>
          </a:p>
        </p:txBody>
      </p:sp>
      <p:sp>
        <p:nvSpPr>
          <p:cNvPr id="12" name="Shape 10"/>
          <p:cNvSpPr/>
          <p:nvPr/>
        </p:nvSpPr>
        <p:spPr>
          <a:xfrm>
            <a:off x="4504334" y="3090672"/>
            <a:ext cx="3183941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17500" dist="38100" dir="5400000">
              <a:srgbClr val="0A1A3F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81398" y="3358591"/>
            <a:ext cx="341986" cy="211226"/>
          </a:xfrm>
          <a:prstGeom prst="triangle">
            <a:avLst/>
          </a:prstGeom>
          <a:solidFill>
            <a:srgbClr val="DC143C"/>
          </a:solidFill>
          <a:ln/>
        </p:spPr>
      </p:sp>
      <p:sp>
        <p:nvSpPr>
          <p:cNvPr id="14" name="Shape 12"/>
          <p:cNvSpPr/>
          <p:nvPr/>
        </p:nvSpPr>
        <p:spPr>
          <a:xfrm>
            <a:off x="4831690" y="3539643"/>
            <a:ext cx="241402" cy="261518"/>
          </a:xfrm>
          <a:prstGeom prst="rect">
            <a:avLst/>
          </a:prstGeom>
          <a:ln w="9779">
            <a:solidFill>
              <a:srgbClr val="DC14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12157" y="3670402"/>
            <a:ext cx="80467" cy="130759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16" name="Text 14"/>
          <p:cNvSpPr/>
          <p:nvPr/>
        </p:nvSpPr>
        <p:spPr>
          <a:xfrm>
            <a:off x="5442509" y="3239719"/>
            <a:ext cx="214884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Vendor dependence</a:t>
            </a:r>
          </a:p>
        </p:txBody>
      </p:sp>
      <p:sp>
        <p:nvSpPr>
          <p:cNvPr id="17" name="Text 15"/>
          <p:cNvSpPr/>
          <p:nvPr/>
        </p:nvSpPr>
        <p:spPr>
          <a:xfrm>
            <a:off x="5442509" y="3556102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Foreign companies control updates, data and roadmaps.</a:t>
            </a:r>
          </a:p>
        </p:txBody>
      </p:sp>
      <p:sp>
        <p:nvSpPr>
          <p:cNvPr id="18" name="Shape 16"/>
          <p:cNvSpPr/>
          <p:nvPr/>
        </p:nvSpPr>
        <p:spPr>
          <a:xfrm>
            <a:off x="8109814" y="3090672"/>
            <a:ext cx="3183941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17500" dist="38100" dir="5400000">
              <a:srgbClr val="0A1A3F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96935" y="3373679"/>
            <a:ext cx="321869" cy="427482"/>
          </a:xfrm>
          <a:prstGeom prst="rect">
            <a:avLst/>
          </a:prstGeom>
          <a:ln w="9779">
            <a:solidFill>
              <a:srgbClr val="DC14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47227" y="3449117"/>
            <a:ext cx="55321" cy="55321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21" name="Shape 19"/>
          <p:cNvSpPr/>
          <p:nvPr/>
        </p:nvSpPr>
        <p:spPr>
          <a:xfrm>
            <a:off x="8532724" y="3449117"/>
            <a:ext cx="55321" cy="55321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22" name="Shape 20"/>
          <p:cNvSpPr/>
          <p:nvPr/>
        </p:nvSpPr>
        <p:spPr>
          <a:xfrm>
            <a:off x="8618220" y="3449117"/>
            <a:ext cx="55321" cy="55321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23" name="Shape 21"/>
          <p:cNvSpPr/>
          <p:nvPr/>
        </p:nvSpPr>
        <p:spPr>
          <a:xfrm>
            <a:off x="8447227" y="3549701"/>
            <a:ext cx="55321" cy="55321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24" name="Shape 22"/>
          <p:cNvSpPr/>
          <p:nvPr/>
        </p:nvSpPr>
        <p:spPr>
          <a:xfrm>
            <a:off x="8532724" y="3549701"/>
            <a:ext cx="55321" cy="55321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25" name="Shape 23"/>
          <p:cNvSpPr/>
          <p:nvPr/>
        </p:nvSpPr>
        <p:spPr>
          <a:xfrm>
            <a:off x="8618220" y="3549701"/>
            <a:ext cx="55321" cy="55321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26" name="Shape 24"/>
          <p:cNvSpPr/>
          <p:nvPr/>
        </p:nvSpPr>
        <p:spPr>
          <a:xfrm>
            <a:off x="8447227" y="3650285"/>
            <a:ext cx="55321" cy="55321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27" name="Shape 25"/>
          <p:cNvSpPr/>
          <p:nvPr/>
        </p:nvSpPr>
        <p:spPr>
          <a:xfrm>
            <a:off x="8532724" y="3650285"/>
            <a:ext cx="55321" cy="55321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28" name="Shape 26"/>
          <p:cNvSpPr/>
          <p:nvPr/>
        </p:nvSpPr>
        <p:spPr>
          <a:xfrm>
            <a:off x="8618220" y="3650285"/>
            <a:ext cx="55321" cy="55321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29" name="Shape 27"/>
          <p:cNvSpPr/>
          <p:nvPr/>
        </p:nvSpPr>
        <p:spPr>
          <a:xfrm>
            <a:off x="8522665" y="3730752"/>
            <a:ext cx="70409" cy="70409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30" name="Text 28"/>
          <p:cNvSpPr/>
          <p:nvPr/>
        </p:nvSpPr>
        <p:spPr>
          <a:xfrm>
            <a:off x="9047988" y="3239719"/>
            <a:ext cx="214884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Legacy fonts</a:t>
            </a:r>
          </a:p>
        </p:txBody>
      </p:sp>
      <p:sp>
        <p:nvSpPr>
          <p:cNvPr id="31" name="Text 29"/>
          <p:cNvSpPr/>
          <p:nvPr/>
        </p:nvSpPr>
        <p:spPr>
          <a:xfrm>
            <a:off x="9047988" y="3556102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Many files are still in non-Unicode Preeti: hard to search, share and archive.</a:t>
            </a:r>
          </a:p>
        </p:txBody>
      </p:sp>
      <p:sp>
        <p:nvSpPr>
          <p:cNvPr id="32" name="Text 30"/>
          <p:cNvSpPr/>
          <p:nvPr/>
        </p:nvSpPr>
        <p:spPr>
          <a:xfrm>
            <a:off x="3024835" y="5131613"/>
            <a:ext cx="614202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Each problem has the same answer: a free, open system that Nepal manages itself.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0" y="450799"/>
            <a:ext cx="5973775" cy="5230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Risks and responses</a:t>
            </a:r>
          </a:p>
        </p:txBody>
      </p:sp>
      <p:sp>
        <p:nvSpPr>
          <p:cNvPr id="3" name="Shape 1"/>
          <p:cNvSpPr/>
          <p:nvPr/>
        </p:nvSpPr>
        <p:spPr>
          <a:xfrm>
            <a:off x="5799125" y="1249985"/>
            <a:ext cx="594360" cy="0"/>
          </a:xfrm>
          <a:prstGeom prst="line">
            <a:avLst/>
          </a:prstGeom>
          <a:noFill/>
          <a:ln w="27940">
            <a:solidFill>
              <a:srgbClr val="DC14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33195" y="2793492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14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Font licensing</a:t>
            </a:r>
          </a:p>
        </p:txBody>
      </p:sp>
      <p:sp>
        <p:nvSpPr>
          <p:cNvPr id="9" name="Text 7"/>
          <p:cNvSpPr/>
          <p:nvPr/>
        </p:nvSpPr>
        <p:spPr>
          <a:xfrm>
            <a:off x="1231697" y="3159252"/>
            <a:ext cx="277154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Kalimati and Preeti need clear permission for use and sharing.</a:t>
            </a:r>
          </a:p>
        </p:txBody>
      </p:sp>
      <p:sp>
        <p:nvSpPr>
          <p:cNvPr id="12" name="Text 10"/>
          <p:cNvSpPr/>
          <p:nvPr/>
        </p:nvSpPr>
        <p:spPr>
          <a:xfrm>
            <a:off x="4815229" y="2793492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14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Translation gaps</a:t>
            </a:r>
          </a:p>
        </p:txBody>
      </p:sp>
      <p:sp>
        <p:nvSpPr>
          <p:cNvPr id="13" name="Text 11"/>
          <p:cNvSpPr/>
          <p:nvPr/>
        </p:nvSpPr>
        <p:spPr>
          <a:xfrm>
            <a:off x="4713732" y="3159252"/>
            <a:ext cx="277154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Some programs are not yet fully translated into Nepali.</a:t>
            </a:r>
          </a:p>
        </p:txBody>
      </p:sp>
      <p:sp>
        <p:nvSpPr>
          <p:cNvPr id="18" name="Text 16"/>
          <p:cNvSpPr/>
          <p:nvPr/>
        </p:nvSpPr>
        <p:spPr>
          <a:xfrm>
            <a:off x="8297266" y="2793492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14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Old printers and apps</a:t>
            </a:r>
          </a:p>
        </p:txBody>
      </p:sp>
      <p:sp>
        <p:nvSpPr>
          <p:cNvPr id="19" name="Text 17"/>
          <p:cNvSpPr/>
          <p:nvPr/>
        </p:nvSpPr>
        <p:spPr>
          <a:xfrm>
            <a:off x="8195767" y="3159252"/>
            <a:ext cx="277154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Some printers and Windows-only programs may not work.</a:t>
            </a:r>
          </a:p>
        </p:txBody>
      </p:sp>
      <p:sp>
        <p:nvSpPr>
          <p:cNvPr id="26" name="Text 24"/>
          <p:cNvSpPr/>
          <p:nvPr/>
        </p:nvSpPr>
        <p:spPr>
          <a:xfrm>
            <a:off x="1333195" y="5196535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Written permission</a:t>
            </a:r>
          </a:p>
        </p:txBody>
      </p:sp>
      <p:sp>
        <p:nvSpPr>
          <p:cNvPr id="27" name="Text 25"/>
          <p:cNvSpPr/>
          <p:nvPr/>
        </p:nvSpPr>
        <p:spPr>
          <a:xfrm>
            <a:off x="1231697" y="5562295"/>
            <a:ext cx="277154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Ask for written permission for Kalimati and Preeti; Noto is a free fallback.</a:t>
            </a:r>
          </a:p>
        </p:txBody>
      </p:sp>
      <p:sp>
        <p:nvSpPr>
          <p:cNvPr id="39" name="Text 37"/>
          <p:cNvSpPr/>
          <p:nvPr/>
        </p:nvSpPr>
        <p:spPr>
          <a:xfrm>
            <a:off x="4815229" y="5196535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Translation drive</a:t>
            </a:r>
          </a:p>
        </p:txBody>
      </p:sp>
      <p:sp>
        <p:nvSpPr>
          <p:cNvPr id="40" name="Text 38"/>
          <p:cNvSpPr/>
          <p:nvPr/>
        </p:nvSpPr>
        <p:spPr>
          <a:xfrm>
            <a:off x="4713732" y="5562295"/>
            <a:ext cx="277154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translation drive with Nepali universities.</a:t>
            </a:r>
          </a:p>
        </p:txBody>
      </p:sp>
      <p:sp>
        <p:nvSpPr>
          <p:cNvPr id="44" name="Text 42"/>
          <p:cNvSpPr/>
          <p:nvPr/>
        </p:nvSpPr>
        <p:spPr>
          <a:xfrm>
            <a:off x="8297266" y="5196535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 list and options</a:t>
            </a:r>
          </a:p>
        </p:txBody>
      </p:sp>
      <p:sp>
        <p:nvSpPr>
          <p:cNvPr id="45" name="Text 43"/>
          <p:cNvSpPr/>
          <p:nvPr/>
        </p:nvSpPr>
        <p:spPr>
          <a:xfrm>
            <a:off x="8195767" y="5562295"/>
            <a:ext cx="277154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hardware test list, plus web or virtual-machine options.</a:t>
            </a:r>
          </a:p>
        </p:txBody>
      </p:sp>
      <p:sp>
        <p:nvSpPr>
          <p:cNvPr id="46" name="Shape 44"/>
          <p:cNvSpPr/>
          <p:nvPr/>
        </p:nvSpPr>
        <p:spPr>
          <a:xfrm>
            <a:off x="11325758" y="299009"/>
            <a:ext cx="362102" cy="311810"/>
          </a:xfrm>
          <a:prstGeom prst="triangle">
            <a:avLst/>
          </a:prstGeom>
          <a:solidFill>
            <a:srgbClr val="DC143C"/>
          </a:solidFill>
          <a:ln/>
        </p:spPr>
      </p:sp>
      <p:sp>
        <p:nvSpPr>
          <p:cNvPr id="47" name="Shape 45"/>
          <p:cNvSpPr/>
          <p:nvPr/>
        </p:nvSpPr>
        <p:spPr>
          <a:xfrm>
            <a:off x="11408969" y="395021"/>
            <a:ext cx="193853" cy="167335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>
            <a:off x="11429086" y="489204"/>
            <a:ext cx="153619" cy="132588"/>
          </a:xfrm>
          <a:prstGeom prst="triangle">
            <a:avLst/>
          </a:prstGeom>
          <a:solidFill>
            <a:srgbClr val="0A1A3F"/>
          </a:solidFill>
          <a:ln w="27940">
            <a:solidFill>
              <a:srgbClr val="FFFFFF"/>
            </a:solidFill>
            <a:prstDash val="solid"/>
          </a:ln>
        </p:spPr>
      </p:sp>
      <p:pic>
        <p:nvPicPr>
          <p:cNvPr id="49" name="Icon type" descr="type icon (Lucide, ISC)"/>
          <p:cNvPicPr>
            <a:picLocks noChangeAspect="1"/>
          </p:cNvPicPr>
          <p:nvPr/>
        </p:nvPicPr>
        <p:blipFill>
          <a:blip r:embed="rIdG3i0"/>
          <a:stretch>
            <a:fillRect/>
          </a:stretch>
        </p:blipFill>
        <p:spPr>
          <a:xfrm>
            <a:off x="2388412" y="2084831"/>
            <a:ext cx="457200" cy="457200"/>
          </a:xfrm>
          <a:prstGeom prst="rect">
            <a:avLst/>
          </a:prstGeom>
        </p:spPr>
      </p:pic>
      <p:pic>
        <p:nvPicPr>
          <p:cNvPr id="50" name="Icon languages" descr="languages icon (Lucide, ISC)"/>
          <p:cNvPicPr>
            <a:picLocks noChangeAspect="1"/>
          </p:cNvPicPr>
          <p:nvPr/>
        </p:nvPicPr>
        <p:blipFill>
          <a:blip r:embed="rIdG3i1"/>
          <a:stretch>
            <a:fillRect/>
          </a:stretch>
        </p:blipFill>
        <p:spPr>
          <a:xfrm>
            <a:off x="5866790" y="2084831"/>
            <a:ext cx="457200" cy="457200"/>
          </a:xfrm>
          <a:prstGeom prst="rect">
            <a:avLst/>
          </a:prstGeom>
        </p:spPr>
      </p:pic>
      <p:pic>
        <p:nvPicPr>
          <p:cNvPr id="51" name="Icon printer" descr="printer icon (Lucide, ISC)"/>
          <p:cNvPicPr>
            <a:picLocks noChangeAspect="1"/>
          </p:cNvPicPr>
          <p:nvPr/>
        </p:nvPicPr>
        <p:blipFill>
          <a:blip r:embed="rIdG3i2"/>
          <a:stretch>
            <a:fillRect/>
          </a:stretch>
        </p:blipFill>
        <p:spPr>
          <a:xfrm>
            <a:off x="9348825" y="2084831"/>
            <a:ext cx="457200" cy="457200"/>
          </a:xfrm>
          <a:prstGeom prst="rect">
            <a:avLst/>
          </a:prstGeom>
        </p:spPr>
      </p:pic>
      <p:pic>
        <p:nvPicPr>
          <p:cNvPr id="52" name="Icon file-check" descr="file-check icon (Lucide, ISC)"/>
          <p:cNvPicPr>
            <a:picLocks noChangeAspect="1"/>
          </p:cNvPicPr>
          <p:nvPr/>
        </p:nvPicPr>
        <p:blipFill>
          <a:blip r:embed="rIdG3i3"/>
          <a:stretch>
            <a:fillRect/>
          </a:stretch>
        </p:blipFill>
        <p:spPr>
          <a:xfrm>
            <a:off x="2388412" y="4517136"/>
            <a:ext cx="457200" cy="457200"/>
          </a:xfrm>
          <a:prstGeom prst="rect">
            <a:avLst/>
          </a:prstGeom>
        </p:spPr>
      </p:pic>
      <p:pic>
        <p:nvPicPr>
          <p:cNvPr id="53" name="Icon graduation-cap" descr="graduation-cap icon (Lucide, ISC)"/>
          <p:cNvPicPr>
            <a:picLocks noChangeAspect="1"/>
          </p:cNvPicPr>
          <p:nvPr/>
        </p:nvPicPr>
        <p:blipFill>
          <a:blip r:embed="rIdG3i4"/>
          <a:stretch>
            <a:fillRect/>
          </a:stretch>
        </p:blipFill>
        <p:spPr>
          <a:xfrm>
            <a:off x="5866790" y="4517136"/>
            <a:ext cx="457200" cy="457200"/>
          </a:xfrm>
          <a:prstGeom prst="rect">
            <a:avLst/>
          </a:prstGeom>
        </p:spPr>
      </p:pic>
      <p:pic>
        <p:nvPicPr>
          <p:cNvPr id="54" name="Icon wrench" descr="wrench icon (Lucide, ISC)"/>
          <p:cNvPicPr>
            <a:picLocks noChangeAspect="1"/>
          </p:cNvPicPr>
          <p:nvPr/>
        </p:nvPicPr>
        <p:blipFill>
          <a:blip r:embed="rIdG3i5"/>
          <a:stretch>
            <a:fillRect/>
          </a:stretch>
        </p:blipFill>
        <p:spPr>
          <a:xfrm>
            <a:off x="9348825" y="4517136"/>
            <a:ext cx="457200" cy="457200"/>
          </a:xfrm>
          <a:prstGeom prst="rect">
            <a:avLst/>
          </a:prstGeom>
        </p:spPr>
      </p:pic>
      <p:sp>
        <p:nvSpPr>
          <p:cNvPr id="55" name="Label RISK"/>
          <p:cNvSpPr txBox="1"/>
          <p:nvPr/>
        </p:nvSpPr>
        <p:spPr>
          <a:xfrm>
            <a:off x="365760" y="2176271"/>
            <a:ext cx="822960" cy="27432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en-US" sz="1100" b="1" spc="150" dirty="0">
                <a:solidFill>
                  <a:srgbClr val="DC143C"/>
                </a:solidFill>
                <a:latin typeface="Montserrat"/>
                <a:cs typeface="Montserrat"/>
              </a:rPr>
              <a:t>RISK</a:t>
            </a:r>
          </a:p>
        </p:txBody>
      </p:sp>
      <p:sp>
        <p:nvSpPr>
          <p:cNvPr id="56" name="Label RESPONSE"/>
          <p:cNvSpPr txBox="1"/>
          <p:nvPr/>
        </p:nvSpPr>
        <p:spPr>
          <a:xfrm>
            <a:off x="365760" y="4608576"/>
            <a:ext cx="822960" cy="27432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en-US" sz="1100" b="1" spc="150" dirty="0">
                <a:solidFill>
                  <a:srgbClr val="0A1A3F"/>
                </a:solidFill>
                <a:latin typeface="Montserrat"/>
                <a:cs typeface="Montserrat"/>
              </a:rPr>
              <a:t>RESPONSE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43393" y="0"/>
            <a:ext cx="4248302" cy="6858000"/>
          </a:xfrm>
          <a:prstGeom prst="rect">
            <a:avLst/>
          </a:prstGeom>
          <a:solidFill>
            <a:srgbClr val="C3C3C3"/>
          </a:solidFill>
          <a:ln/>
        </p:spPr>
      </p:sp>
      <p:sp>
        <p:nvSpPr>
          <p:cNvPr id="3" name="Shape 1"/>
          <p:cNvSpPr/>
          <p:nvPr/>
        </p:nvSpPr>
        <p:spPr>
          <a:xfrm>
            <a:off x="7934249" y="0"/>
            <a:ext cx="4258361" cy="6858000"/>
          </a:xfrm>
          <a:prstGeom prst="rect">
            <a:avLst/>
          </a:prstGeom>
          <a:solidFill>
            <a:srgbClr val="DC143C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586484" y="1371600"/>
            <a:ext cx="5648249" cy="12929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What's inside: ready for Nepali work on day one</a:t>
            </a:r>
          </a:p>
        </p:txBody>
      </p:sp>
      <p:sp>
        <p:nvSpPr>
          <p:cNvPr id="5" name="Shape 3"/>
          <p:cNvSpPr/>
          <p:nvPr/>
        </p:nvSpPr>
        <p:spPr>
          <a:xfrm>
            <a:off x="1586484" y="3103474"/>
            <a:ext cx="4292194" cy="133868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17500" dist="38100" dir="5400000">
              <a:srgbClr val="0A1A3F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11096" y="3440887"/>
            <a:ext cx="402336" cy="321869"/>
          </a:xfrm>
          <a:prstGeom prst="rect">
            <a:avLst/>
          </a:prstGeom>
          <a:ln w="9779">
            <a:solidFill>
              <a:srgbClr val="DC14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82089" y="3440887"/>
            <a:ext cx="14082" cy="321869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8" name="Shape 6"/>
          <p:cNvSpPr/>
          <p:nvPr/>
        </p:nvSpPr>
        <p:spPr>
          <a:xfrm>
            <a:off x="1911096" y="3611880"/>
            <a:ext cx="402336" cy="14082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9" name="Shape 7"/>
          <p:cNvSpPr/>
          <p:nvPr/>
        </p:nvSpPr>
        <p:spPr>
          <a:xfrm>
            <a:off x="2082089" y="3521354"/>
            <a:ext cx="231343" cy="14082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10" name="Text 8"/>
          <p:cNvSpPr/>
          <p:nvPr/>
        </p:nvSpPr>
        <p:spPr>
          <a:xfrm>
            <a:off x="2561234" y="3240634"/>
            <a:ext cx="301752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Office suite</a:t>
            </a:r>
          </a:p>
        </p:txBody>
      </p:sp>
      <p:sp>
        <p:nvSpPr>
          <p:cNvPr id="11" name="Text 9"/>
          <p:cNvSpPr/>
          <p:nvPr/>
        </p:nvSpPr>
        <p:spPr>
          <a:xfrm>
            <a:off x="2563063" y="355793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LibreOffice, with a Nepali interface and Nepali spellcheck.</a:t>
            </a:r>
          </a:p>
        </p:txBody>
      </p:sp>
      <p:sp>
        <p:nvSpPr>
          <p:cNvPr id="12" name="Shape 10"/>
          <p:cNvSpPr/>
          <p:nvPr/>
        </p:nvSpPr>
        <p:spPr>
          <a:xfrm>
            <a:off x="6313018" y="3103474"/>
            <a:ext cx="4292194" cy="133868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17500" dist="38100" dir="5400000">
              <a:srgbClr val="0A1A3F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 flipH="1">
            <a:off x="6647688" y="3420770"/>
            <a:ext cx="382219" cy="382219"/>
          </a:xfrm>
          <a:prstGeom prst="rtTriangle">
            <a:avLst/>
          </a:prstGeom>
          <a:ln w="9779">
            <a:solidFill>
              <a:srgbClr val="DC14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58330" y="3561588"/>
            <a:ext cx="160934" cy="160934"/>
          </a:xfrm>
          <a:prstGeom prst="rect">
            <a:avLst/>
          </a:prstGeom>
          <a:ln w="9779">
            <a:solidFill>
              <a:srgbClr val="DC14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87768" y="3240634"/>
            <a:ext cx="301752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Fonts</a:t>
            </a:r>
          </a:p>
        </p:txBody>
      </p:sp>
      <p:sp>
        <p:nvSpPr>
          <p:cNvPr id="16" name="Text 14"/>
          <p:cNvSpPr/>
          <p:nvPr/>
        </p:nvSpPr>
        <p:spPr>
          <a:xfrm>
            <a:off x="7289597" y="355793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Kalimati (default), Preeti for legacy files plus a converter, and Noto Sans Devanagari.</a:t>
            </a:r>
          </a:p>
        </p:txBody>
      </p:sp>
      <p:sp>
        <p:nvSpPr>
          <p:cNvPr id="17" name="Shape 15"/>
          <p:cNvSpPr/>
          <p:nvPr/>
        </p:nvSpPr>
        <p:spPr>
          <a:xfrm>
            <a:off x="1586484" y="4837176"/>
            <a:ext cx="4292194" cy="133868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17500" dist="38100" dir="5400000">
              <a:srgbClr val="0A1A3F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921154" y="5265115"/>
            <a:ext cx="170993" cy="321869"/>
          </a:xfrm>
          <a:prstGeom prst="rect">
            <a:avLst/>
          </a:prstGeom>
          <a:ln w="9779">
            <a:solidFill>
              <a:srgbClr val="DC14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22322" y="5144414"/>
            <a:ext cx="181051" cy="442570"/>
          </a:xfrm>
          <a:prstGeom prst="rect">
            <a:avLst/>
          </a:prstGeom>
          <a:ln w="9779">
            <a:solidFill>
              <a:srgbClr val="DC14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61388" y="5325466"/>
            <a:ext cx="90526" cy="35204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21" name="Shape 19"/>
          <p:cNvSpPr/>
          <p:nvPr/>
        </p:nvSpPr>
        <p:spPr>
          <a:xfrm>
            <a:off x="2162556" y="5214823"/>
            <a:ext cx="100584" cy="35204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22" name="Shape 20"/>
          <p:cNvSpPr/>
          <p:nvPr/>
        </p:nvSpPr>
        <p:spPr>
          <a:xfrm>
            <a:off x="2162556" y="5325466"/>
            <a:ext cx="100584" cy="35204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23" name="Shape 21"/>
          <p:cNvSpPr/>
          <p:nvPr/>
        </p:nvSpPr>
        <p:spPr>
          <a:xfrm>
            <a:off x="2162556" y="5436108"/>
            <a:ext cx="100584" cy="35204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24" name="Text 22"/>
          <p:cNvSpPr/>
          <p:nvPr/>
        </p:nvSpPr>
        <p:spPr>
          <a:xfrm>
            <a:off x="2561234" y="4974336"/>
            <a:ext cx="301752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Keyboards</a:t>
            </a:r>
          </a:p>
        </p:txBody>
      </p:sp>
      <p:sp>
        <p:nvSpPr>
          <p:cNvPr id="25" name="Text 23"/>
          <p:cNvSpPr/>
          <p:nvPr/>
        </p:nvSpPr>
        <p:spPr>
          <a:xfrm>
            <a:off x="2563063" y="5291633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Romanized and Traditional Nepali layouts, with a one-click switch.</a:t>
            </a:r>
          </a:p>
        </p:txBody>
      </p:sp>
      <p:sp>
        <p:nvSpPr>
          <p:cNvPr id="26" name="Shape 24"/>
          <p:cNvSpPr/>
          <p:nvPr/>
        </p:nvSpPr>
        <p:spPr>
          <a:xfrm>
            <a:off x="6313018" y="4837176"/>
            <a:ext cx="4292194" cy="133868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17500" dist="38100" dir="5400000">
              <a:srgbClr val="0A1A3F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77863" y="5159502"/>
            <a:ext cx="321869" cy="427482"/>
          </a:xfrm>
          <a:prstGeom prst="rect">
            <a:avLst/>
          </a:prstGeom>
          <a:ln w="9779">
            <a:solidFill>
              <a:srgbClr val="DC143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28155" y="5234940"/>
            <a:ext cx="55321" cy="55321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29" name="Shape 27"/>
          <p:cNvSpPr/>
          <p:nvPr/>
        </p:nvSpPr>
        <p:spPr>
          <a:xfrm>
            <a:off x="6813652" y="5234940"/>
            <a:ext cx="55321" cy="55321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30" name="Shape 28"/>
          <p:cNvSpPr/>
          <p:nvPr/>
        </p:nvSpPr>
        <p:spPr>
          <a:xfrm>
            <a:off x="6899148" y="5234940"/>
            <a:ext cx="55321" cy="55321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31" name="Shape 29"/>
          <p:cNvSpPr/>
          <p:nvPr/>
        </p:nvSpPr>
        <p:spPr>
          <a:xfrm>
            <a:off x="6728155" y="5335524"/>
            <a:ext cx="55321" cy="55321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32" name="Shape 30"/>
          <p:cNvSpPr/>
          <p:nvPr/>
        </p:nvSpPr>
        <p:spPr>
          <a:xfrm>
            <a:off x="6813652" y="5335524"/>
            <a:ext cx="55321" cy="55321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33" name="Shape 31"/>
          <p:cNvSpPr/>
          <p:nvPr/>
        </p:nvSpPr>
        <p:spPr>
          <a:xfrm>
            <a:off x="6899148" y="5335524"/>
            <a:ext cx="55321" cy="55321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34" name="Shape 32"/>
          <p:cNvSpPr/>
          <p:nvPr/>
        </p:nvSpPr>
        <p:spPr>
          <a:xfrm>
            <a:off x="6728155" y="5436108"/>
            <a:ext cx="55321" cy="55321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35" name="Shape 33"/>
          <p:cNvSpPr/>
          <p:nvPr/>
        </p:nvSpPr>
        <p:spPr>
          <a:xfrm>
            <a:off x="6813652" y="5436108"/>
            <a:ext cx="55321" cy="55321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36" name="Shape 34"/>
          <p:cNvSpPr/>
          <p:nvPr/>
        </p:nvSpPr>
        <p:spPr>
          <a:xfrm>
            <a:off x="6899148" y="5436108"/>
            <a:ext cx="55321" cy="55321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37" name="Shape 35"/>
          <p:cNvSpPr/>
          <p:nvPr/>
        </p:nvSpPr>
        <p:spPr>
          <a:xfrm>
            <a:off x="6803593" y="5516575"/>
            <a:ext cx="70409" cy="70409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38" name="Text 36"/>
          <p:cNvSpPr/>
          <p:nvPr/>
        </p:nvSpPr>
        <p:spPr>
          <a:xfrm>
            <a:off x="7287768" y="4974336"/>
            <a:ext cx="301752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Nepali by default</a:t>
            </a:r>
          </a:p>
        </p:txBody>
      </p:sp>
      <p:sp>
        <p:nvSpPr>
          <p:cNvPr id="39" name="Text 37"/>
          <p:cNvSpPr/>
          <p:nvPr/>
        </p:nvSpPr>
        <p:spPr>
          <a:xfrm>
            <a:off x="7289597" y="5291633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Bikram Sambat calendar, Kathmandu time, and Himalaya and temple wallpapers.</a:t>
            </a:r>
          </a:p>
        </p:txBody>
      </p:sp>
      <p:sp>
        <p:nvSpPr>
          <p:cNvPr id="40" name="Shape 38"/>
          <p:cNvSpPr/>
          <p:nvPr/>
        </p:nvSpPr>
        <p:spPr>
          <a:xfrm>
            <a:off x="353873" y="305410"/>
            <a:ext cx="362102" cy="311810"/>
          </a:xfrm>
          <a:prstGeom prst="triangle">
            <a:avLst/>
          </a:prstGeom>
          <a:solidFill>
            <a:srgbClr val="DC143C"/>
          </a:solidFill>
          <a:ln/>
        </p:spPr>
      </p:sp>
      <p:sp>
        <p:nvSpPr>
          <p:cNvPr id="41" name="Shape 39"/>
          <p:cNvSpPr/>
          <p:nvPr/>
        </p:nvSpPr>
        <p:spPr>
          <a:xfrm>
            <a:off x="437083" y="401422"/>
            <a:ext cx="193853" cy="167335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457200" y="495605"/>
            <a:ext cx="153619" cy="132588"/>
          </a:xfrm>
          <a:prstGeom prst="triangle">
            <a:avLst/>
          </a:prstGeom>
          <a:solidFill>
            <a:srgbClr val="0A1A3F"/>
          </a:solidFill>
          <a:ln w="2794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5586" y="574243"/>
            <a:ext cx="4390949" cy="401787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17500" dist="38100" dir="5400000">
              <a:srgbClr val="0A1A3F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194706" y="574243"/>
            <a:ext cx="6194146" cy="4017874"/>
          </a:xfrm>
          <a:prstGeom prst="rect">
            <a:avLst/>
          </a:prstGeom>
          <a:blipFill rotWithShape="1">
            <a:blip r:embed="rIdG2a"/>
            <a:stretch>
              <a:fillRect/>
            </a:stretch>
          </a:blipFill>
          <a:ln/>
        </p:spPr>
      </p:sp>
      <p:sp>
        <p:nvSpPr>
          <p:cNvPr id="4" name="Text 2"/>
          <p:cNvSpPr/>
          <p:nvPr/>
        </p:nvSpPr>
        <p:spPr>
          <a:xfrm>
            <a:off x="1228039" y="1143000"/>
            <a:ext cx="3541471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1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Mass deployment</a:t>
            </a:r>
          </a:p>
        </p:txBody>
      </p:sp>
      <p:sp>
        <p:nvSpPr>
          <p:cNvPr id="5" name="Text 3"/>
          <p:cNvSpPr/>
          <p:nvPr/>
        </p:nvSpPr>
        <p:spPr>
          <a:xfrm>
            <a:off x="1017727" y="2514600"/>
            <a:ext cx="396209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Three steps take one tested image to every government computer, with updates under central control.</a:t>
            </a:r>
          </a:p>
        </p:txBody>
      </p:sp>
      <p:sp>
        <p:nvSpPr>
          <p:cNvPr id="6" name="Shape 4"/>
          <p:cNvSpPr/>
          <p:nvPr/>
        </p:nvSpPr>
        <p:spPr>
          <a:xfrm>
            <a:off x="803758" y="4902098"/>
            <a:ext cx="3275381" cy="1645920"/>
          </a:xfrm>
          <a:prstGeom prst="rect">
            <a:avLst/>
          </a:prstGeom>
          <a:solidFill>
            <a:srgbClr val="DC143C"/>
          </a:solidFill>
          <a:ln/>
          <a:effectLst>
            <a:outerShdw sx="100000" sy="100000" kx="0" ky="0" algn="bl" rotWithShape="0" blurRad="317500" dist="38100" dir="5400000">
              <a:srgbClr val="DC143C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2182" y="5097780"/>
            <a:ext cx="561442" cy="568757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14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57477" y="5029200"/>
            <a:ext cx="224028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Automatic install</a:t>
            </a:r>
          </a:p>
        </p:txBody>
      </p:sp>
      <p:sp>
        <p:nvSpPr>
          <p:cNvPr id="9" name="Text 7"/>
          <p:cNvSpPr/>
          <p:nvPr/>
        </p:nvSpPr>
        <p:spPr>
          <a:xfrm>
            <a:off x="1757477" y="534924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From USB or network boot. The ministry code is the only input.</a:t>
            </a:r>
          </a:p>
        </p:txBody>
      </p:sp>
      <p:sp>
        <p:nvSpPr>
          <p:cNvPr id="10" name="Shape 8"/>
          <p:cNvSpPr/>
          <p:nvPr/>
        </p:nvSpPr>
        <p:spPr>
          <a:xfrm>
            <a:off x="4465930" y="4902098"/>
            <a:ext cx="3275381" cy="1645920"/>
          </a:xfrm>
          <a:prstGeom prst="rect">
            <a:avLst/>
          </a:prstGeom>
          <a:solidFill>
            <a:srgbClr val="0A1A3F"/>
          </a:solidFill>
          <a:ln/>
          <a:effectLst>
            <a:outerShdw sx="100000" sy="100000" kx="0" ky="0" algn="bl" rotWithShape="0" blurRad="317500" dist="38100" dir="5400000">
              <a:srgbClr val="0A1A3F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13732" y="5097780"/>
            <a:ext cx="561442" cy="568757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24805" y="5029200"/>
            <a:ext cx="224028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National mirror</a:t>
            </a:r>
          </a:p>
        </p:txBody>
      </p:sp>
      <p:sp>
        <p:nvSpPr>
          <p:cNvPr id="13" name="Text 11"/>
          <p:cNvSpPr/>
          <p:nvPr/>
        </p:nvSpPr>
        <p:spPr>
          <a:xfrm>
            <a:off x="5524805" y="534924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national package mirror in a government data centre.</a:t>
            </a:r>
          </a:p>
        </p:txBody>
      </p:sp>
      <p:sp>
        <p:nvSpPr>
          <p:cNvPr id="14" name="Shape 12"/>
          <p:cNvSpPr/>
          <p:nvPr/>
        </p:nvSpPr>
        <p:spPr>
          <a:xfrm>
            <a:off x="8113471" y="4902098"/>
            <a:ext cx="3275381" cy="1645920"/>
          </a:xfrm>
          <a:prstGeom prst="rect">
            <a:avLst/>
          </a:prstGeom>
          <a:solidFill>
            <a:srgbClr val="0A1A3F"/>
          </a:solidFill>
          <a:ln/>
          <a:effectLst>
            <a:outerShdw sx="100000" sy="100000" kx="0" ky="0" algn="bl" rotWithShape="0" blurRad="317500" dist="38100" dir="5400000">
              <a:srgbClr val="0A1A3F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14639" y="5097780"/>
            <a:ext cx="561442" cy="568757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56218" y="5029200"/>
            <a:ext cx="224028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Staged updates</a:t>
            </a:r>
          </a:p>
        </p:txBody>
      </p:sp>
      <p:sp>
        <p:nvSpPr>
          <p:cNvPr id="17" name="Text 15"/>
          <p:cNvSpPr/>
          <p:nvPr/>
        </p:nvSpPr>
        <p:spPr>
          <a:xfrm>
            <a:off x="9056218" y="534924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Central IT, then a pilot ministry, then all of government. Nightly security fixes; rollback to a snapshot.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3486" y="1256386"/>
            <a:ext cx="4996282" cy="133319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17500" dist="38100" dir="5400000">
              <a:srgbClr val="0A1A3F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110082" y="1398118"/>
            <a:ext cx="1245413" cy="1037844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8" name="Text 6"/>
          <p:cNvSpPr/>
          <p:nvPr/>
        </p:nvSpPr>
        <p:spPr>
          <a:xfrm>
            <a:off x="2702052" y="139811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telemetry</a:t>
            </a:r>
          </a:p>
        </p:txBody>
      </p:sp>
      <p:sp>
        <p:nvSpPr>
          <p:cNvPr id="9" name="Text 7"/>
          <p:cNvSpPr/>
          <p:nvPr/>
        </p:nvSpPr>
        <p:spPr>
          <a:xfrm>
            <a:off x="2702052" y="168158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 usage reports and no phone-home to any vendor.</a:t>
            </a:r>
          </a:p>
        </p:txBody>
      </p:sp>
      <p:sp>
        <p:nvSpPr>
          <p:cNvPr id="10" name="Shape 8"/>
          <p:cNvSpPr/>
          <p:nvPr/>
        </p:nvSpPr>
        <p:spPr>
          <a:xfrm>
            <a:off x="913486" y="2800807"/>
            <a:ext cx="4996282" cy="133319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17500" dist="38100" dir="5400000">
              <a:srgbClr val="0A1A3F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10082" y="2909621"/>
            <a:ext cx="1245413" cy="1037844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18" name="Text 16"/>
          <p:cNvSpPr/>
          <p:nvPr/>
        </p:nvSpPr>
        <p:spPr>
          <a:xfrm>
            <a:off x="2702052" y="2909621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 source</a:t>
            </a:r>
          </a:p>
        </p:txBody>
      </p:sp>
      <p:sp>
        <p:nvSpPr>
          <p:cNvPr id="19" name="Text 17"/>
          <p:cNvSpPr/>
          <p:nvPr/>
        </p:nvSpPr>
        <p:spPr>
          <a:xfrm>
            <a:off x="2702052" y="3193085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All code is open and can be audited.</a:t>
            </a:r>
          </a:p>
        </p:txBody>
      </p:sp>
      <p:sp>
        <p:nvSpPr>
          <p:cNvPr id="20" name="Shape 18"/>
          <p:cNvSpPr/>
          <p:nvPr/>
        </p:nvSpPr>
        <p:spPr>
          <a:xfrm>
            <a:off x="913486" y="4346143"/>
            <a:ext cx="4996282" cy="133319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17500" dist="38100" dir="5400000">
              <a:srgbClr val="0A1A3F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110082" y="4493362"/>
            <a:ext cx="1245413" cy="1037844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33" name="Text 31"/>
          <p:cNvSpPr/>
          <p:nvPr/>
        </p:nvSpPr>
        <p:spPr>
          <a:xfrm>
            <a:off x="2702052" y="449336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Stays in Nepal</a:t>
            </a:r>
          </a:p>
        </p:txBody>
      </p:sp>
      <p:sp>
        <p:nvSpPr>
          <p:cNvPr id="34" name="Text 32"/>
          <p:cNvSpPr/>
          <p:nvPr/>
        </p:nvSpPr>
        <p:spPr>
          <a:xfrm>
            <a:off x="2702052" y="4776826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Updates and data stay on infrastructure in Nepal.</a:t>
            </a:r>
          </a:p>
        </p:txBody>
      </p:sp>
      <p:sp>
        <p:nvSpPr>
          <p:cNvPr id="35" name="Text 33"/>
          <p:cNvSpPr/>
          <p:nvPr/>
        </p:nvSpPr>
        <p:spPr>
          <a:xfrm>
            <a:off x="6999732" y="1325880"/>
            <a:ext cx="427847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1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Security and sovereignty</a:t>
            </a:r>
          </a:p>
        </p:txBody>
      </p:sp>
      <p:sp>
        <p:nvSpPr>
          <p:cNvPr id="36" name="Text 34"/>
          <p:cNvSpPr/>
          <p:nvPr/>
        </p:nvSpPr>
        <p:spPr>
          <a:xfrm>
            <a:off x="6999732" y="2743200"/>
            <a:ext cx="427847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0404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Government keeps control of its own computers and its own data.</a:t>
            </a:r>
          </a:p>
        </p:txBody>
      </p:sp>
      <p:sp>
        <p:nvSpPr>
          <p:cNvPr id="37" name="Text 35"/>
          <p:cNvSpPr/>
          <p:nvPr/>
        </p:nvSpPr>
        <p:spPr>
          <a:xfrm>
            <a:off x="6999732" y="3794760"/>
            <a:ext cx="427847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These three rules apply to every ministry, from the first pilot onward.</a:t>
            </a:r>
          </a:p>
        </p:txBody>
      </p:sp>
      <p:sp>
        <p:nvSpPr>
          <p:cNvPr id="41" name="Shape 39"/>
          <p:cNvSpPr/>
          <p:nvPr/>
        </p:nvSpPr>
        <p:spPr>
          <a:xfrm>
            <a:off x="11325758" y="299009"/>
            <a:ext cx="362102" cy="311810"/>
          </a:xfrm>
          <a:prstGeom prst="triangle">
            <a:avLst/>
          </a:prstGeom>
          <a:solidFill>
            <a:srgbClr val="DC143C"/>
          </a:solidFill>
          <a:ln/>
        </p:spPr>
      </p:sp>
      <p:sp>
        <p:nvSpPr>
          <p:cNvPr id="42" name="Shape 40"/>
          <p:cNvSpPr/>
          <p:nvPr/>
        </p:nvSpPr>
        <p:spPr>
          <a:xfrm>
            <a:off x="11408969" y="395021"/>
            <a:ext cx="193853" cy="167335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11429086" y="489204"/>
            <a:ext cx="153619" cy="132588"/>
          </a:xfrm>
          <a:prstGeom prst="triangle">
            <a:avLst/>
          </a:prstGeom>
          <a:solidFill>
            <a:srgbClr val="0A1A3F"/>
          </a:solidFill>
          <a:ln w="27940">
            <a:solidFill>
              <a:srgbClr val="FFFFFF"/>
            </a:solidFill>
            <a:prstDash val="solid"/>
          </a:ln>
        </p:spPr>
      </p:sp>
      <p:pic>
        <p:nvPicPr>
          <p:cNvPr id="44" name="Icon eye-off" descr="eye-off icon (Lucide, ISC)"/>
          <p:cNvPicPr>
            <a:picLocks noChangeAspect="1"/>
          </p:cNvPicPr>
          <p:nvPr/>
        </p:nvPicPr>
        <p:blipFill>
          <a:blip r:embed="rIdG3i0"/>
          <a:stretch>
            <a:fillRect/>
          </a:stretch>
        </p:blipFill>
        <p:spPr>
          <a:xfrm>
            <a:off x="1481328" y="1666036"/>
            <a:ext cx="502920" cy="502920"/>
          </a:xfrm>
          <a:prstGeom prst="rect">
            <a:avLst/>
          </a:prstGeom>
        </p:spPr>
      </p:pic>
      <p:pic>
        <p:nvPicPr>
          <p:cNvPr id="45" name="Icon code" descr="code icon (Lucide, ISC)"/>
          <p:cNvPicPr>
            <a:picLocks noChangeAspect="1"/>
          </p:cNvPicPr>
          <p:nvPr/>
        </p:nvPicPr>
        <p:blipFill>
          <a:blip r:embed="rIdG3i1"/>
          <a:stretch>
            <a:fillRect/>
          </a:stretch>
        </p:blipFill>
        <p:spPr>
          <a:xfrm>
            <a:off x="1481328" y="3177540"/>
            <a:ext cx="502920" cy="502920"/>
          </a:xfrm>
          <a:prstGeom prst="rect">
            <a:avLst/>
          </a:prstGeom>
        </p:spPr>
      </p:pic>
      <p:pic>
        <p:nvPicPr>
          <p:cNvPr id="46" name="Icon map-pin" descr="map-pin icon (Lucide, ISC)"/>
          <p:cNvPicPr>
            <a:picLocks noChangeAspect="1"/>
          </p:cNvPicPr>
          <p:nvPr/>
        </p:nvPicPr>
        <p:blipFill>
          <a:blip r:embed="rIdG3i2"/>
          <a:stretch>
            <a:fillRect/>
          </a:stretch>
        </p:blipFill>
        <p:spPr>
          <a:xfrm>
            <a:off x="1481328" y="475945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6703" y="0"/>
            <a:ext cx="3365906" cy="6858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Text 1"/>
          <p:cNvSpPr/>
          <p:nvPr/>
        </p:nvSpPr>
        <p:spPr>
          <a:xfrm>
            <a:off x="790956" y="105156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image, every ministry</a:t>
            </a:r>
          </a:p>
        </p:txBody>
      </p:sp>
      <p:sp>
        <p:nvSpPr>
          <p:cNvPr id="4" name="Text 2"/>
          <p:cNvSpPr/>
          <p:nvPr/>
        </p:nvSpPr>
        <p:spPr>
          <a:xfrm>
            <a:off x="828446" y="2286000"/>
            <a:ext cx="47548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Every computer gets the same signed image. At install, a ministry code such as mof, moha or moest sets the ministry's name in Nepali and English, its logo, login screen, wallpaper, About page, bookmarks and update server.</a:t>
            </a:r>
          </a:p>
        </p:txBody>
      </p:sp>
      <p:sp>
        <p:nvSpPr>
          <p:cNvPr id="5" name="Text 3"/>
          <p:cNvSpPr/>
          <p:nvPr/>
        </p:nvSpPr>
        <p:spPr>
          <a:xfrm>
            <a:off x="827532" y="40690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C14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image</a:t>
            </a:r>
          </a:p>
        </p:txBody>
      </p:sp>
      <p:sp>
        <p:nvSpPr>
          <p:cNvPr id="6" name="Text 4"/>
          <p:cNvSpPr/>
          <p:nvPr/>
        </p:nvSpPr>
        <p:spPr>
          <a:xfrm>
            <a:off x="827532" y="4526280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1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Same for all</a:t>
            </a:r>
          </a:p>
        </p:txBody>
      </p:sp>
      <p:sp>
        <p:nvSpPr>
          <p:cNvPr id="7" name="Text 5"/>
          <p:cNvSpPr/>
          <p:nvPr/>
        </p:nvSpPr>
        <p:spPr>
          <a:xfrm>
            <a:off x="827532" y="48463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One signed image for all of government.</a:t>
            </a:r>
          </a:p>
        </p:txBody>
      </p:sp>
      <p:sp>
        <p:nvSpPr>
          <p:cNvPr id="8" name="Text 6"/>
          <p:cNvSpPr/>
          <p:nvPr/>
        </p:nvSpPr>
        <p:spPr>
          <a:xfrm>
            <a:off x="3168396" y="40690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C14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Any ministry</a:t>
            </a:r>
          </a:p>
        </p:txBody>
      </p:sp>
      <p:sp>
        <p:nvSpPr>
          <p:cNvPr id="9" name="Text 7"/>
          <p:cNvSpPr/>
          <p:nvPr/>
        </p:nvSpPr>
        <p:spPr>
          <a:xfrm>
            <a:off x="3168396" y="4526280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1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 at install</a:t>
            </a:r>
          </a:p>
        </p:txBody>
      </p:sp>
      <p:sp>
        <p:nvSpPr>
          <p:cNvPr id="10" name="Text 8"/>
          <p:cNvSpPr/>
          <p:nvPr/>
        </p:nvSpPr>
        <p:spPr>
          <a:xfrm>
            <a:off x="3168396" y="48463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short code gives each ministry its own identity.</a:t>
            </a:r>
          </a:p>
        </p:txBody>
      </p:sp>
      <p:sp>
        <p:nvSpPr>
          <p:cNvPr id="11" name="Shape 9"/>
          <p:cNvSpPr/>
          <p:nvPr/>
        </p:nvSpPr>
        <p:spPr>
          <a:xfrm>
            <a:off x="6528816" y="1067105"/>
            <a:ext cx="6501384" cy="4389120"/>
          </a:xfrm>
          <a:prstGeom prst="roundRect">
            <a:avLst>
              <a:gd name="adj" fmla="val 2708"/>
            </a:avLst>
          </a:prstGeom>
          <a:solidFill>
            <a:srgbClr val="0A0A0C"/>
          </a:solidFill>
          <a:ln/>
        </p:spPr>
      </p:sp>
      <p:sp>
        <p:nvSpPr>
          <p:cNvPr id="12" name="Shape 10"/>
          <p:cNvSpPr/>
          <p:nvPr/>
        </p:nvSpPr>
        <p:spPr>
          <a:xfrm>
            <a:off x="6607454" y="1248156"/>
            <a:ext cx="6343193" cy="4035247"/>
          </a:xfrm>
          <a:prstGeom prst="rect">
            <a:avLst/>
          </a:prstGeom>
          <a:blipFill rotWithShape="1">
            <a:blip r:embed="rIdG2a"/>
            <a:stretch>
              <a:fillRect/>
            </a:stretch>
          </a:blipFill>
          <a:ln/>
        </p:spPr>
      </p:sp>
      <p:sp>
        <p:nvSpPr>
          <p:cNvPr id="13" name="Shape 11"/>
          <p:cNvSpPr/>
          <p:nvPr/>
        </p:nvSpPr>
        <p:spPr>
          <a:xfrm>
            <a:off x="5879592" y="5632704"/>
            <a:ext cx="7863840" cy="137160"/>
          </a:xfrm>
          <a:prstGeom prst="roundRect">
            <a:avLst>
              <a:gd name="adj" fmla="val 46667"/>
            </a:avLst>
          </a:prstGeom>
          <a:solidFill>
            <a:srgbClr val="86888C"/>
          </a:solidFill>
          <a:ln/>
        </p:spPr>
      </p:sp>
      <p:sp>
        <p:nvSpPr>
          <p:cNvPr id="14" name="Shape 12"/>
          <p:cNvSpPr/>
          <p:nvPr/>
        </p:nvSpPr>
        <p:spPr>
          <a:xfrm>
            <a:off x="8778240" y="5632704"/>
            <a:ext cx="1463040" cy="73152"/>
          </a:xfrm>
          <a:prstGeom prst="rect">
            <a:avLst/>
          </a:prstGeom>
          <a:solidFill>
            <a:srgbClr val="6E7074"/>
          </a:solidFill>
          <a:ln/>
        </p:spPr>
      </p:sp>
      <p:sp>
        <p:nvSpPr>
          <p:cNvPr id="15" name="Shape 13"/>
          <p:cNvSpPr/>
          <p:nvPr/>
        </p:nvSpPr>
        <p:spPr>
          <a:xfrm>
            <a:off x="353873" y="305410"/>
            <a:ext cx="362102" cy="311810"/>
          </a:xfrm>
          <a:prstGeom prst="triangle">
            <a:avLst/>
          </a:prstGeom>
          <a:solidFill>
            <a:srgbClr val="DC143C"/>
          </a:solidFill>
          <a:ln/>
        </p:spPr>
      </p:sp>
      <p:sp>
        <p:nvSpPr>
          <p:cNvPr id="16" name="Shape 14"/>
          <p:cNvSpPr/>
          <p:nvPr/>
        </p:nvSpPr>
        <p:spPr>
          <a:xfrm>
            <a:off x="437083" y="401422"/>
            <a:ext cx="193853" cy="167335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495605"/>
            <a:ext cx="153619" cy="132588"/>
          </a:xfrm>
          <a:prstGeom prst="triangle">
            <a:avLst/>
          </a:prstGeom>
          <a:solidFill>
            <a:srgbClr val="0A1A3F"/>
          </a:solidFill>
          <a:ln w="2794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96151" y="974750"/>
            <a:ext cx="5495544" cy="588325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6696151" y="0"/>
            <a:ext cx="5495544" cy="5883250"/>
          </a:xfrm>
          <a:prstGeom prst="rect">
            <a:avLst/>
          </a:prstGeom>
          <a:blipFill rotWithShape="1">
            <a:blip r:embed="rIdG4a"/>
            <a:stretch>
              <a:fillRect/>
            </a:stretch>
          </a:blipFill>
          <a:ln/>
        </p:spPr>
      </p:sp>
      <p:sp>
        <p:nvSpPr>
          <p:cNvPr id="4" name="Shape 2"/>
          <p:cNvSpPr/>
          <p:nvPr/>
        </p:nvSpPr>
        <p:spPr>
          <a:xfrm>
            <a:off x="0" y="974750"/>
            <a:ext cx="6696151" cy="4908499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5" name="Text 3"/>
          <p:cNvSpPr/>
          <p:nvPr/>
        </p:nvSpPr>
        <p:spPr>
          <a:xfrm>
            <a:off x="1177747" y="1600200"/>
            <a:ext cx="433974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ask</a:t>
            </a:r>
          </a:p>
        </p:txBody>
      </p:sp>
      <p:sp>
        <p:nvSpPr>
          <p:cNvPr id="6" name="Text 4"/>
          <p:cNvSpPr/>
          <p:nvPr/>
        </p:nvSpPr>
        <p:spPr>
          <a:xfrm>
            <a:off x="1177747" y="2514600"/>
            <a:ext cx="433974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Two decisions let the pilot begin.</a:t>
            </a:r>
          </a:p>
        </p:txBody>
      </p:sp>
      <p:sp>
        <p:nvSpPr>
          <p:cNvPr id="7" name="Text 5"/>
          <p:cNvSpPr/>
          <p:nvPr/>
        </p:nvSpPr>
        <p:spPr>
          <a:xfrm>
            <a:off x="1177747" y="32918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Approve a pilot</a:t>
            </a:r>
          </a:p>
        </p:txBody>
      </p:sp>
      <p:sp>
        <p:nvSpPr>
          <p:cNvPr id="8" name="Text 6"/>
          <p:cNvSpPr/>
          <p:nvPr/>
        </p:nvSpPr>
        <p:spPr>
          <a:xfrm>
            <a:off x="1177747" y="3675887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 one or more ministries.</a:t>
            </a:r>
          </a:p>
        </p:txBody>
      </p:sp>
      <p:sp>
        <p:nvSpPr>
          <p:cNvPr id="9" name="Text 7"/>
          <p:cNvSpPr/>
          <p:nvPr/>
        </p:nvSpPr>
        <p:spPr>
          <a:xfrm>
            <a:off x="1177747" y="42976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Name a central owner</a:t>
            </a:r>
          </a:p>
        </p:txBody>
      </p:sp>
      <p:sp>
        <p:nvSpPr>
          <p:cNvPr id="10" name="Text 8"/>
          <p:cNvSpPr/>
          <p:nvPr/>
        </p:nvSpPr>
        <p:spPr>
          <a:xfrm>
            <a:off x="1177747" y="46817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 the base image and the ministry profiles.</a:t>
            </a:r>
          </a:p>
        </p:txBody>
      </p:sp>
      <p:sp>
        <p:nvSpPr>
          <p:cNvPr id="11" name="Text 9"/>
          <p:cNvSpPr/>
          <p:nvPr/>
        </p:nvSpPr>
        <p:spPr>
          <a:xfrm>
            <a:off x="8126273" y="6232550"/>
            <a:ext cx="2634386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Nepal OS · Proposal · 2026</a:t>
            </a:r>
          </a:p>
        </p:txBody>
      </p:sp>
      <p:sp>
        <p:nvSpPr>
          <p:cNvPr id="12" name="Shape 10"/>
          <p:cNvSpPr/>
          <p:nvPr/>
        </p:nvSpPr>
        <p:spPr>
          <a:xfrm>
            <a:off x="353873" y="305410"/>
            <a:ext cx="362102" cy="311810"/>
          </a:xfrm>
          <a:prstGeom prst="triangle">
            <a:avLst/>
          </a:prstGeom>
          <a:solidFill>
            <a:srgbClr val="DC143C"/>
          </a:solidFill>
          <a:ln/>
        </p:spPr>
      </p:sp>
      <p:sp>
        <p:nvSpPr>
          <p:cNvPr id="13" name="Shape 11"/>
          <p:cNvSpPr/>
          <p:nvPr/>
        </p:nvSpPr>
        <p:spPr>
          <a:xfrm>
            <a:off x="437083" y="401422"/>
            <a:ext cx="193853" cy="167335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495605"/>
            <a:ext cx="153619" cy="132588"/>
          </a:xfrm>
          <a:prstGeom prst="triangle">
            <a:avLst/>
          </a:prstGeom>
          <a:solidFill>
            <a:srgbClr val="0A1A3F"/>
          </a:solidFill>
          <a:ln w="2794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Nepal OS</dc:title>
  <dc:subject>PptxGenJS Presentation</dc:subject>
  <dc:creator>Nepal OS</dc:creator>
  <cp:lastModifiedBy>Nepal OS</cp:lastModifiedBy>
  <cp:revision>1</cp:revision>
  <dcterms:created xsi:type="dcterms:W3CDTF">2026-10-19T09:50:48Z</dcterms:created>
  <dcterms:modified xsi:type="dcterms:W3CDTF">2026-10-19T09:50:48Z</dcterms:modified>
</cp:coreProperties>
</file>